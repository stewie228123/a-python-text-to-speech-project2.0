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Urbanist Medium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UrbanistMedium-boldItalic.fntdata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slide" Target="slides/slide7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UrbanistMedium-regular.fntdata"/><Relationship Id="rId16" Type="http://schemas.openxmlformats.org/officeDocument/2006/relationships/font" Target="fonts/Poppins-boldItalic.fntdata"/><Relationship Id="rId19" Type="http://schemas.openxmlformats.org/officeDocument/2006/relationships/font" Target="fonts/UrbanistMedium-italic.fntdata"/><Relationship Id="rId1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45110bd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d45110bd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45110bdff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d45110bdff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45110bdf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d45110bdf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d659334f6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d659334f6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d659334f6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d659334f6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d659334f6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d659334f6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d659334f6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d659334f6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427975" y="474750"/>
            <a:ext cx="5017800" cy="2666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Преобразование текста в речь на Python</a:t>
            </a:r>
            <a:endParaRPr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5"/>
          <p:cNvSpPr txBox="1"/>
          <p:nvPr>
            <p:ph idx="1" type="subTitle"/>
          </p:nvPr>
        </p:nvSpPr>
        <p:spPr>
          <a:xfrm>
            <a:off x="3389025" y="12977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01. </a:t>
            </a:r>
            <a:r>
              <a:rPr lang="en"/>
              <a:t>Людям с нарушениями получать информацию</a:t>
            </a:r>
            <a:endParaRPr/>
          </a:p>
        </p:txBody>
      </p:sp>
      <p:sp>
        <p:nvSpPr>
          <p:cNvPr id="579" name="Google Shape;579;p55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02. </a:t>
            </a:r>
            <a:r>
              <a:rPr lang="en"/>
              <a:t>Генерировать аудио для различных целей</a:t>
            </a:r>
            <a:endParaRPr/>
          </a:p>
        </p:txBody>
      </p:sp>
      <p:sp>
        <p:nvSpPr>
          <p:cNvPr id="580" name="Google Shape;580;p55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03. Использование аудио в учебных целях</a:t>
            </a:r>
            <a:endParaRPr/>
          </a:p>
        </p:txBody>
      </p:sp>
      <p:sp>
        <p:nvSpPr>
          <p:cNvPr id="581" name="Google Shape;581;p55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01. </a:t>
            </a:r>
            <a:r>
              <a:rPr lang="en"/>
              <a:t>Маркетологи и предприниматели</a:t>
            </a:r>
            <a:endParaRPr/>
          </a:p>
        </p:txBody>
      </p:sp>
      <p:sp>
        <p:nvSpPr>
          <p:cNvPr id="582" name="Google Shape;582;p55"/>
          <p:cNvSpPr txBox="1"/>
          <p:nvPr>
            <p:ph idx="5" type="subTitle"/>
          </p:nvPr>
        </p:nvSpPr>
        <p:spPr>
          <a:xfrm>
            <a:off x="6335550" y="2475745"/>
            <a:ext cx="2331300" cy="4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02. </a:t>
            </a:r>
            <a:r>
              <a:rPr lang="en"/>
              <a:t>Студенты </a:t>
            </a:r>
            <a:endParaRPr/>
          </a:p>
        </p:txBody>
      </p:sp>
      <p:sp>
        <p:nvSpPr>
          <p:cNvPr id="583" name="Google Shape;583;p55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03. </a:t>
            </a:r>
            <a:r>
              <a:rPr lang="en"/>
              <a:t>Музыканты и сценаристы</a:t>
            </a:r>
            <a:endParaRPr/>
          </a:p>
        </p:txBody>
      </p:sp>
      <p:cxnSp>
        <p:nvCxnSpPr>
          <p:cNvPr id="584" name="Google Shape;584;p55"/>
          <p:cNvCxnSpPr/>
          <p:nvPr/>
        </p:nvCxnSpPr>
        <p:spPr>
          <a:xfrm rot="10800000">
            <a:off x="5896563" y="1427825"/>
            <a:ext cx="0" cy="2964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55"/>
          <p:cNvSpPr txBox="1"/>
          <p:nvPr>
            <p:ph type="title"/>
          </p:nvPr>
        </p:nvSpPr>
        <p:spPr>
          <a:xfrm>
            <a:off x="111325" y="129425"/>
            <a:ext cx="3554400" cy="1018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Информация о проекте:</a:t>
            </a:r>
            <a:endParaRPr/>
          </a:p>
        </p:txBody>
      </p:sp>
      <p:sp>
        <p:nvSpPr>
          <p:cNvPr id="586" name="Google Shape;586;p55"/>
          <p:cNvSpPr txBox="1"/>
          <p:nvPr/>
        </p:nvSpPr>
        <p:spPr>
          <a:xfrm>
            <a:off x="3145525" y="710100"/>
            <a:ext cx="2751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Программа позволяет: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7" name="Google Shape;587;p55"/>
          <p:cNvSpPr txBox="1"/>
          <p:nvPr/>
        </p:nvSpPr>
        <p:spPr>
          <a:xfrm>
            <a:off x="6390150" y="710100"/>
            <a:ext cx="2369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Целевая аудитория: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6"/>
          <p:cNvSpPr txBox="1"/>
          <p:nvPr>
            <p:ph type="title"/>
          </p:nvPr>
        </p:nvSpPr>
        <p:spPr>
          <a:xfrm>
            <a:off x="283475" y="433725"/>
            <a:ext cx="4835400" cy="82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Аналоги моей первой версии проекта и их сравнение:</a:t>
            </a:r>
            <a:endParaRPr sz="2800"/>
          </a:p>
        </p:txBody>
      </p:sp>
      <p:grpSp>
        <p:nvGrpSpPr>
          <p:cNvPr id="593" name="Google Shape;593;p56"/>
          <p:cNvGrpSpPr/>
          <p:nvPr/>
        </p:nvGrpSpPr>
        <p:grpSpPr>
          <a:xfrm>
            <a:off x="7702825" y="2150325"/>
            <a:ext cx="1255500" cy="297600"/>
            <a:chOff x="7645025" y="2665288"/>
            <a:chExt cx="1255500" cy="297600"/>
          </a:xfrm>
        </p:grpSpPr>
        <p:sp>
          <p:nvSpPr>
            <p:cNvPr id="594" name="Google Shape;594;p56"/>
            <p:cNvSpPr/>
            <p:nvPr/>
          </p:nvSpPr>
          <p:spPr>
            <a:xfrm>
              <a:off x="7942625" y="2676850"/>
              <a:ext cx="957900" cy="2745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Отлично </a:t>
              </a:r>
              <a:endParaRPr sz="9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595" name="Google Shape;595;p56"/>
            <p:cNvSpPr/>
            <p:nvPr/>
          </p:nvSpPr>
          <p:spPr>
            <a:xfrm>
              <a:off x="7645025" y="2665288"/>
              <a:ext cx="297600" cy="297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</a:t>
              </a:r>
              <a:endParaRPr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596" name="Google Shape;596;p56"/>
          <p:cNvGrpSpPr/>
          <p:nvPr/>
        </p:nvGrpSpPr>
        <p:grpSpPr>
          <a:xfrm>
            <a:off x="7702825" y="2617738"/>
            <a:ext cx="1255500" cy="297600"/>
            <a:chOff x="7645025" y="3132700"/>
            <a:chExt cx="1255500" cy="297600"/>
          </a:xfrm>
        </p:grpSpPr>
        <p:sp>
          <p:nvSpPr>
            <p:cNvPr id="597" name="Google Shape;597;p56"/>
            <p:cNvSpPr/>
            <p:nvPr/>
          </p:nvSpPr>
          <p:spPr>
            <a:xfrm>
              <a:off x="7942625" y="3144275"/>
              <a:ext cx="957900" cy="274500"/>
            </a:xfrm>
            <a:prstGeom prst="roundRect">
              <a:avLst>
                <a:gd fmla="val 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Хорошо</a:t>
              </a:r>
              <a:endParaRPr sz="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598" name="Google Shape;598;p56"/>
            <p:cNvSpPr/>
            <p:nvPr/>
          </p:nvSpPr>
          <p:spPr>
            <a:xfrm>
              <a:off x="7645025" y="3132700"/>
              <a:ext cx="297600" cy="297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endParaRPr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599" name="Google Shape;599;p56"/>
          <p:cNvGrpSpPr/>
          <p:nvPr/>
        </p:nvGrpSpPr>
        <p:grpSpPr>
          <a:xfrm>
            <a:off x="7702825" y="3095400"/>
            <a:ext cx="1255500" cy="297600"/>
            <a:chOff x="7645025" y="3610363"/>
            <a:chExt cx="1255500" cy="297600"/>
          </a:xfrm>
        </p:grpSpPr>
        <p:sp>
          <p:nvSpPr>
            <p:cNvPr id="600" name="Google Shape;600;p56"/>
            <p:cNvSpPr/>
            <p:nvPr/>
          </p:nvSpPr>
          <p:spPr>
            <a:xfrm>
              <a:off x="7942625" y="3611700"/>
              <a:ext cx="957900" cy="2745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Удовлетворительно</a:t>
              </a:r>
              <a:endParaRPr sz="9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01" name="Google Shape;601;p56"/>
            <p:cNvSpPr/>
            <p:nvPr/>
          </p:nvSpPr>
          <p:spPr>
            <a:xfrm>
              <a:off x="7645025" y="3610363"/>
              <a:ext cx="297600" cy="297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</a:t>
              </a:r>
              <a:endParaRPr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602" name="Google Shape;602;p56"/>
          <p:cNvGrpSpPr/>
          <p:nvPr/>
        </p:nvGrpSpPr>
        <p:grpSpPr>
          <a:xfrm>
            <a:off x="7702825" y="3552600"/>
            <a:ext cx="1255500" cy="297600"/>
            <a:chOff x="7645025" y="4067563"/>
            <a:chExt cx="1255500" cy="297600"/>
          </a:xfrm>
        </p:grpSpPr>
        <p:sp>
          <p:nvSpPr>
            <p:cNvPr id="603" name="Google Shape;603;p56"/>
            <p:cNvSpPr/>
            <p:nvPr/>
          </p:nvSpPr>
          <p:spPr>
            <a:xfrm>
              <a:off x="7942625" y="4079125"/>
              <a:ext cx="957900" cy="274500"/>
            </a:xfrm>
            <a:prstGeom prst="roundRect">
              <a:avLst>
                <a:gd fmla="val 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Плохо</a:t>
              </a:r>
              <a:endParaRPr sz="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04" name="Google Shape;604;p56"/>
            <p:cNvSpPr/>
            <p:nvPr/>
          </p:nvSpPr>
          <p:spPr>
            <a:xfrm>
              <a:off x="7645025" y="4067563"/>
              <a:ext cx="297600" cy="29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</a:t>
              </a:r>
              <a:endParaRPr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605" name="Google Shape;605;p56"/>
          <p:cNvGrpSpPr/>
          <p:nvPr/>
        </p:nvGrpSpPr>
        <p:grpSpPr>
          <a:xfrm>
            <a:off x="319106" y="1596430"/>
            <a:ext cx="6950184" cy="2737369"/>
            <a:chOff x="278757" y="2027501"/>
            <a:chExt cx="5378567" cy="2116086"/>
          </a:xfrm>
        </p:grpSpPr>
        <p:grpSp>
          <p:nvGrpSpPr>
            <p:cNvPr id="606" name="Google Shape;606;p56"/>
            <p:cNvGrpSpPr/>
            <p:nvPr/>
          </p:nvGrpSpPr>
          <p:grpSpPr>
            <a:xfrm>
              <a:off x="1147600" y="2027501"/>
              <a:ext cx="4251238" cy="481212"/>
              <a:chOff x="1147600" y="2027501"/>
              <a:chExt cx="4251238" cy="481212"/>
            </a:xfrm>
          </p:grpSpPr>
          <p:sp>
            <p:nvSpPr>
              <p:cNvPr descr="A chart showing which team members are responsible, accountable, consulted, and informed in regard to various project phases and tasks. " id="607" name="Google Shape;607;p56"/>
              <p:cNvSpPr txBox="1"/>
              <p:nvPr/>
            </p:nvSpPr>
            <p:spPr>
              <a:xfrm>
                <a:off x="1147600" y="2047013"/>
                <a:ext cx="1667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8275" lIns="118275" spcFirstLastPara="1" rIns="118275" wrap="square" tIns="11827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GCTS</a:t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</a:t>
                </a:r>
                <a:r>
                  <a:rPr b="1" lang="en" sz="776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Google Cloud Text-to-Speech</a:t>
                </a: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)</a:t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8" name="Google Shape;608;p56"/>
              <p:cNvSpPr txBox="1"/>
              <p:nvPr/>
            </p:nvSpPr>
            <p:spPr>
              <a:xfrm>
                <a:off x="2623675" y="2047013"/>
                <a:ext cx="1822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8275" lIns="118275" spcFirstLastPara="1" rIns="118275" wrap="square" tIns="11827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MASS</a:t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</a:t>
                </a:r>
                <a:r>
                  <a:rPr b="1" lang="en" sz="776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Microsoft Azure Speech Service</a:t>
                </a: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)</a:t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9" name="Google Shape;609;p56"/>
              <p:cNvSpPr txBox="1"/>
              <p:nvPr/>
            </p:nvSpPr>
            <p:spPr>
              <a:xfrm>
                <a:off x="4239338" y="2027501"/>
                <a:ext cx="1159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8275" lIns="118275" spcFirstLastPara="1" rIns="118275" wrap="square" tIns="11827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Мой проект</a:t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610" name="Google Shape;610;p56"/>
            <p:cNvSpPr/>
            <p:nvPr/>
          </p:nvSpPr>
          <p:spPr>
            <a:xfrm>
              <a:off x="3378713" y="2578500"/>
              <a:ext cx="224400" cy="22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11" name="Google Shape;611;p56"/>
            <p:cNvSpPr/>
            <p:nvPr/>
          </p:nvSpPr>
          <p:spPr>
            <a:xfrm>
              <a:off x="4678150" y="2585800"/>
              <a:ext cx="224400" cy="22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12" name="Google Shape;612;p56"/>
            <p:cNvSpPr/>
            <p:nvPr/>
          </p:nvSpPr>
          <p:spPr>
            <a:xfrm>
              <a:off x="2071800" y="2988200"/>
              <a:ext cx="224400" cy="22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</a:t>
              </a:r>
              <a:endParaRPr sz="1294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13" name="Google Shape;613;p56"/>
            <p:cNvSpPr/>
            <p:nvPr/>
          </p:nvSpPr>
          <p:spPr>
            <a:xfrm>
              <a:off x="2071800" y="2578500"/>
              <a:ext cx="224400" cy="22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</a:t>
              </a:r>
              <a:endParaRPr sz="1294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614" name="Google Shape;614;p56"/>
            <p:cNvCxnSpPr/>
            <p:nvPr/>
          </p:nvCxnSpPr>
          <p:spPr>
            <a:xfrm rot="10800000">
              <a:off x="278757" y="2480723"/>
              <a:ext cx="5272800" cy="15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5" name="Google Shape;615;p56"/>
            <p:cNvSpPr/>
            <p:nvPr/>
          </p:nvSpPr>
          <p:spPr>
            <a:xfrm>
              <a:off x="3378690" y="3398078"/>
              <a:ext cx="224400" cy="22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16" name="Google Shape;616;p56"/>
            <p:cNvSpPr/>
            <p:nvPr/>
          </p:nvSpPr>
          <p:spPr>
            <a:xfrm>
              <a:off x="3374976" y="3816842"/>
              <a:ext cx="224400" cy="22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</a:t>
              </a:r>
              <a:endParaRPr sz="1294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17" name="Google Shape;617;p56"/>
            <p:cNvSpPr/>
            <p:nvPr/>
          </p:nvSpPr>
          <p:spPr>
            <a:xfrm>
              <a:off x="4678140" y="3398084"/>
              <a:ext cx="224400" cy="22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18" name="Google Shape;618;p56"/>
            <p:cNvSpPr/>
            <p:nvPr/>
          </p:nvSpPr>
          <p:spPr>
            <a:xfrm>
              <a:off x="2071800" y="3398084"/>
              <a:ext cx="224400" cy="22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</a:t>
              </a:r>
              <a:endParaRPr sz="1294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19" name="Google Shape;619;p56"/>
            <p:cNvSpPr/>
            <p:nvPr/>
          </p:nvSpPr>
          <p:spPr>
            <a:xfrm>
              <a:off x="2072288" y="3816848"/>
              <a:ext cx="224400" cy="22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</a:t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grpSp>
          <p:nvGrpSpPr>
            <p:cNvPr id="620" name="Google Shape;620;p56"/>
            <p:cNvGrpSpPr/>
            <p:nvPr/>
          </p:nvGrpSpPr>
          <p:grpSpPr>
            <a:xfrm>
              <a:off x="284700" y="2485650"/>
              <a:ext cx="1159500" cy="1639600"/>
              <a:chOff x="284700" y="2485650"/>
              <a:chExt cx="1159500" cy="1639600"/>
            </a:xfrm>
          </p:grpSpPr>
          <p:sp>
            <p:nvSpPr>
              <p:cNvPr id="621" name="Google Shape;621;p56"/>
              <p:cNvSpPr txBox="1"/>
              <p:nvPr/>
            </p:nvSpPr>
            <p:spPr>
              <a:xfrm>
                <a:off x="284700" y="2485650"/>
                <a:ext cx="1159500" cy="41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8275" lIns="0" spcFirstLastPara="1" rIns="118275" wrap="square" tIns="118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  Качество звучания</a:t>
                </a:r>
                <a:endParaRPr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22" name="Google Shape;622;p56"/>
              <p:cNvSpPr txBox="1"/>
              <p:nvPr/>
            </p:nvSpPr>
            <p:spPr>
              <a:xfrm>
                <a:off x="284700" y="2895350"/>
                <a:ext cx="1159500" cy="41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8275" lIns="0" spcFirstLastPara="1" rIns="118275" wrap="square" tIns="118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  Соответствие </a:t>
                </a:r>
                <a:endParaRPr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   с   оригиналом</a:t>
                </a:r>
                <a:endParaRPr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23" name="Google Shape;623;p56"/>
              <p:cNvSpPr txBox="1"/>
              <p:nvPr/>
            </p:nvSpPr>
            <p:spPr>
              <a:xfrm>
                <a:off x="284700" y="3305450"/>
                <a:ext cx="1159500" cy="41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8275" lIns="0" spcFirstLastPara="1" rIns="118275" wrap="square" tIns="118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  Кол-во языков                </a:t>
                </a:r>
                <a:endParaRPr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24" name="Google Shape;624;p56"/>
              <p:cNvSpPr txBox="1"/>
              <p:nvPr/>
            </p:nvSpPr>
            <p:spPr>
              <a:xfrm>
                <a:off x="284700" y="3715150"/>
                <a:ext cx="1159500" cy="41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8275" lIns="0" spcFirstLastPara="1" rIns="118275" wrap="square" tIns="118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  Стоимость</a:t>
                </a:r>
                <a:endParaRPr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cxnSp>
          <p:nvCxnSpPr>
            <p:cNvPr id="625" name="Google Shape;625;p56"/>
            <p:cNvCxnSpPr/>
            <p:nvPr/>
          </p:nvCxnSpPr>
          <p:spPr>
            <a:xfrm rot="10800000">
              <a:off x="279222" y="2906554"/>
              <a:ext cx="5321700" cy="11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56"/>
            <p:cNvCxnSpPr/>
            <p:nvPr/>
          </p:nvCxnSpPr>
          <p:spPr>
            <a:xfrm rot="10800000">
              <a:off x="279376" y="3301055"/>
              <a:ext cx="5342700" cy="18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7" name="Google Shape;627;p56"/>
            <p:cNvCxnSpPr/>
            <p:nvPr/>
          </p:nvCxnSpPr>
          <p:spPr>
            <a:xfrm rot="10800000">
              <a:off x="279365" y="3719856"/>
              <a:ext cx="5370900" cy="12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8" name="Google Shape;628;p56"/>
            <p:cNvCxnSpPr/>
            <p:nvPr/>
          </p:nvCxnSpPr>
          <p:spPr>
            <a:xfrm rot="10800000">
              <a:off x="279224" y="4138487"/>
              <a:ext cx="5378100" cy="51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9" name="Google Shape;629;p56"/>
          <p:cNvSpPr/>
          <p:nvPr/>
        </p:nvSpPr>
        <p:spPr>
          <a:xfrm>
            <a:off x="6001952" y="3892800"/>
            <a:ext cx="311400" cy="29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9525" lIns="99525" spcFirstLastPara="1" rIns="99525" wrap="square" tIns="9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</a:t>
            </a:r>
            <a:endParaRPr sz="1089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30" name="Google Shape;630;p56"/>
          <p:cNvSpPr/>
          <p:nvPr/>
        </p:nvSpPr>
        <p:spPr>
          <a:xfrm>
            <a:off x="4290523" y="2819905"/>
            <a:ext cx="375300" cy="364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9525" lIns="99525" spcFirstLastPara="1" rIns="99525" wrap="square" tIns="9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</a:t>
            </a:r>
            <a:endParaRPr sz="1089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31" name="Google Shape;631;p56"/>
          <p:cNvSpPr/>
          <p:nvPr/>
        </p:nvSpPr>
        <p:spPr>
          <a:xfrm>
            <a:off x="6012588" y="2819904"/>
            <a:ext cx="290100" cy="29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18275" lIns="118275" spcFirstLastPara="1" rIns="118275" wrap="square" tIns="1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AA</a:t>
            </a:r>
            <a:endParaRPr sz="1294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4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6" name="Google Shape;636;p57"/>
          <p:cNvCxnSpPr/>
          <p:nvPr/>
        </p:nvCxnSpPr>
        <p:spPr>
          <a:xfrm>
            <a:off x="331300" y="1959225"/>
            <a:ext cx="85281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7" name="Google Shape;637;p57"/>
          <p:cNvSpPr/>
          <p:nvPr/>
        </p:nvSpPr>
        <p:spPr>
          <a:xfrm flipH="1" rot="-5400000">
            <a:off x="8850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8" name="Google Shape;638;p57"/>
          <p:cNvSpPr/>
          <p:nvPr/>
        </p:nvSpPr>
        <p:spPr>
          <a:xfrm flipH="1" rot="-5400000">
            <a:off x="1779019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9" name="Google Shape;639;p57"/>
          <p:cNvSpPr/>
          <p:nvPr/>
        </p:nvSpPr>
        <p:spPr>
          <a:xfrm flipH="1" rot="-5400000">
            <a:off x="3545408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0" name="Google Shape;640;p57"/>
          <p:cNvSpPr/>
          <p:nvPr/>
        </p:nvSpPr>
        <p:spPr>
          <a:xfrm flipH="1" rot="-5400000">
            <a:off x="5305846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p57"/>
          <p:cNvSpPr/>
          <p:nvPr/>
        </p:nvSpPr>
        <p:spPr>
          <a:xfrm flipH="1" rot="-5400000">
            <a:off x="7050850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2" name="Google Shape;642;p57"/>
          <p:cNvSpPr txBox="1"/>
          <p:nvPr>
            <p:ph type="title"/>
          </p:nvPr>
        </p:nvSpPr>
        <p:spPr>
          <a:xfrm>
            <a:off x="331300" y="42548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Схема реализации:</a:t>
            </a:r>
            <a:endParaRPr/>
          </a:p>
        </p:txBody>
      </p:sp>
      <p:sp>
        <p:nvSpPr>
          <p:cNvPr id="643" name="Google Shape;643;p57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1 Неделя</a:t>
            </a:r>
            <a:endParaRPr/>
          </a:p>
        </p:txBody>
      </p:sp>
      <p:sp>
        <p:nvSpPr>
          <p:cNvPr id="644" name="Google Shape;644;p57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2 Неделя</a:t>
            </a:r>
            <a:endParaRPr/>
          </a:p>
        </p:txBody>
      </p:sp>
      <p:sp>
        <p:nvSpPr>
          <p:cNvPr id="645" name="Google Shape;645;p57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Неделя</a:t>
            </a:r>
            <a:endParaRPr/>
          </a:p>
        </p:txBody>
      </p:sp>
      <p:sp>
        <p:nvSpPr>
          <p:cNvPr id="646" name="Google Shape;646;p57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Неделя</a:t>
            </a:r>
            <a:endParaRPr/>
          </a:p>
        </p:txBody>
      </p:sp>
      <p:sp>
        <p:nvSpPr>
          <p:cNvPr id="647" name="Google Shape;647;p57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Неделя</a:t>
            </a:r>
            <a:endParaRPr/>
          </a:p>
        </p:txBody>
      </p:sp>
      <p:sp>
        <p:nvSpPr>
          <p:cNvPr id="648" name="Google Shape;648;p57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/>
              <a:t>Создание первой версии</a:t>
            </a:r>
            <a:endParaRPr sz="1200"/>
          </a:p>
        </p:txBody>
      </p:sp>
      <p:sp>
        <p:nvSpPr>
          <p:cNvPr id="649" name="Google Shape;649;p57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/>
              <a:t>Добавление различных языков</a:t>
            </a:r>
            <a:endParaRPr sz="1200"/>
          </a:p>
        </p:txBody>
      </p:sp>
      <p:sp>
        <p:nvSpPr>
          <p:cNvPr id="650" name="Google Shape;650;p57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/>
              <a:t>Проверка на наличие ошибок</a:t>
            </a:r>
            <a:endParaRPr sz="1200"/>
          </a:p>
        </p:txBody>
      </p:sp>
      <p:sp>
        <p:nvSpPr>
          <p:cNvPr id="651" name="Google Shape;651;p57"/>
          <p:cNvSpPr txBox="1"/>
          <p:nvPr>
            <p:ph idx="14" type="subTitle"/>
          </p:nvPr>
        </p:nvSpPr>
        <p:spPr>
          <a:xfrm>
            <a:off x="271250" y="2737078"/>
            <a:ext cx="1508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Изучение материала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Для использования библиотек</a:t>
            </a:r>
            <a:endParaRPr/>
          </a:p>
        </p:txBody>
      </p:sp>
      <p:sp>
        <p:nvSpPr>
          <p:cNvPr id="652" name="Google Shape;652;p57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Базовая реализация</a:t>
            </a:r>
            <a:endParaRPr/>
          </a:p>
        </p:txBody>
      </p:sp>
      <p:sp>
        <p:nvSpPr>
          <p:cNvPr id="653" name="Google Shape;653;p57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Расширение функциональности</a:t>
            </a:r>
            <a:endParaRPr/>
          </a:p>
        </p:txBody>
      </p:sp>
      <p:sp>
        <p:nvSpPr>
          <p:cNvPr id="654" name="Google Shape;654;p57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Тестирование</a:t>
            </a:r>
            <a:endParaRPr/>
          </a:p>
        </p:txBody>
      </p:sp>
      <p:sp>
        <p:nvSpPr>
          <p:cNvPr id="655" name="Google Shape;655;p57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Выпуск первой версии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8"/>
          <p:cNvSpPr txBox="1"/>
          <p:nvPr>
            <p:ph type="title"/>
          </p:nvPr>
        </p:nvSpPr>
        <p:spPr>
          <a:xfrm>
            <a:off x="247725" y="425475"/>
            <a:ext cx="4418100" cy="672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Экономика, Основные расходы</a:t>
            </a:r>
            <a:endParaRPr/>
          </a:p>
        </p:txBody>
      </p:sp>
      <p:sp>
        <p:nvSpPr>
          <p:cNvPr id="661" name="Google Shape;661;p58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Использование платных библиотек</a:t>
            </a:r>
            <a:endParaRPr sz="1300"/>
          </a:p>
        </p:txBody>
      </p:sp>
      <p:sp>
        <p:nvSpPr>
          <p:cNvPr id="662" name="Google Shape;662;p58"/>
          <p:cNvSpPr txBox="1"/>
          <p:nvPr>
            <p:ph idx="2" type="subTitle"/>
          </p:nvPr>
        </p:nvSpPr>
        <p:spPr>
          <a:xfrm>
            <a:off x="284700" y="3531035"/>
            <a:ext cx="1970400" cy="36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Улучшается качество голоса </a:t>
            </a:r>
            <a:endParaRPr sz="1200"/>
          </a:p>
        </p:txBody>
      </p:sp>
      <p:sp>
        <p:nvSpPr>
          <p:cNvPr id="663" name="Google Shape;663;p58"/>
          <p:cNvSpPr txBox="1"/>
          <p:nvPr>
            <p:ph idx="3" type="subTitle"/>
          </p:nvPr>
        </p:nvSpPr>
        <p:spPr>
          <a:xfrm>
            <a:off x="2404600" y="3016800"/>
            <a:ext cx="25233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Добавление разных языков </a:t>
            </a:r>
            <a:endParaRPr sz="1400"/>
          </a:p>
        </p:txBody>
      </p:sp>
      <p:sp>
        <p:nvSpPr>
          <p:cNvPr id="664" name="Google Shape;664;p58"/>
          <p:cNvSpPr txBox="1"/>
          <p:nvPr>
            <p:ph idx="4" type="subTitle"/>
          </p:nvPr>
        </p:nvSpPr>
        <p:spPr>
          <a:xfrm>
            <a:off x="2709986" y="3515585"/>
            <a:ext cx="1970400" cy="400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От 30 до 50 языков</a:t>
            </a:r>
            <a:endParaRPr sz="1400"/>
          </a:p>
        </p:txBody>
      </p:sp>
      <p:sp>
        <p:nvSpPr>
          <p:cNvPr id="665" name="Google Shape;665;p58"/>
          <p:cNvSpPr txBox="1"/>
          <p:nvPr>
            <p:ph idx="5" type="subTitle"/>
          </p:nvPr>
        </p:nvSpPr>
        <p:spPr>
          <a:xfrm>
            <a:off x="5026450" y="3016800"/>
            <a:ext cx="23910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</a:t>
            </a:r>
            <a:r>
              <a:rPr lang="en" sz="1300"/>
              <a:t>обавление разных голосов</a:t>
            </a:r>
            <a:endParaRPr sz="1300"/>
          </a:p>
        </p:txBody>
      </p:sp>
      <p:sp>
        <p:nvSpPr>
          <p:cNvPr id="666" name="Google Shape;666;p58"/>
          <p:cNvSpPr txBox="1"/>
          <p:nvPr>
            <p:ph idx="6" type="subTitle"/>
          </p:nvPr>
        </p:nvSpPr>
        <p:spPr>
          <a:xfrm>
            <a:off x="5135249" y="3515585"/>
            <a:ext cx="1970400" cy="400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Разнообразить  озвучку</a:t>
            </a:r>
            <a:endParaRPr sz="1400"/>
          </a:p>
        </p:txBody>
      </p:sp>
      <p:sp>
        <p:nvSpPr>
          <p:cNvPr id="667" name="Google Shape;667;p58"/>
          <p:cNvSpPr/>
          <p:nvPr/>
        </p:nvSpPr>
        <p:spPr>
          <a:xfrm flipH="1">
            <a:off x="281456" y="1603155"/>
            <a:ext cx="1021200" cy="9678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8" name="Google Shape;668;p58"/>
          <p:cNvSpPr/>
          <p:nvPr/>
        </p:nvSpPr>
        <p:spPr>
          <a:xfrm flipH="1" rot="5400000">
            <a:off x="790549" y="2088670"/>
            <a:ext cx="970800" cy="9678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9" name="Google Shape;669;p58"/>
          <p:cNvSpPr/>
          <p:nvPr/>
        </p:nvSpPr>
        <p:spPr>
          <a:xfrm flipH="1" rot="-5400000">
            <a:off x="281575" y="2075580"/>
            <a:ext cx="994800" cy="9948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0" name="Google Shape;670;p58"/>
          <p:cNvSpPr/>
          <p:nvPr/>
        </p:nvSpPr>
        <p:spPr>
          <a:xfrm rot="-5400000">
            <a:off x="2704941" y="2101713"/>
            <a:ext cx="996600" cy="944700"/>
          </a:xfrm>
          <a:prstGeom prst="pie">
            <a:avLst>
              <a:gd fmla="val 5914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1" name="Google Shape;671;p58"/>
          <p:cNvSpPr/>
          <p:nvPr/>
        </p:nvSpPr>
        <p:spPr>
          <a:xfrm flipH="1">
            <a:off x="2712290" y="2075690"/>
            <a:ext cx="994800" cy="9948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2" name="Google Shape;672;p58"/>
          <p:cNvSpPr/>
          <p:nvPr/>
        </p:nvSpPr>
        <p:spPr>
          <a:xfrm flipH="1">
            <a:off x="5121277" y="1604890"/>
            <a:ext cx="1021200" cy="9678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3" name="Google Shape;673;p58"/>
          <p:cNvSpPr/>
          <p:nvPr/>
        </p:nvSpPr>
        <p:spPr>
          <a:xfrm flipH="1" rot="10800000">
            <a:off x="5147644" y="2090405"/>
            <a:ext cx="970800" cy="9678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4" name="Google Shape;674;p58"/>
          <p:cNvSpPr/>
          <p:nvPr/>
        </p:nvSpPr>
        <p:spPr>
          <a:xfrm rot="-5400000">
            <a:off x="5135275" y="2572655"/>
            <a:ext cx="994800" cy="9948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5" name="Google Shape;675;p58"/>
          <p:cNvSpPr/>
          <p:nvPr/>
        </p:nvSpPr>
        <p:spPr>
          <a:xfrm flipH="1" rot="5400000">
            <a:off x="3183472" y="2596747"/>
            <a:ext cx="996600" cy="944700"/>
          </a:xfrm>
          <a:prstGeom prst="pie">
            <a:avLst>
              <a:gd fmla="val 591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6" name="Google Shape;676;p58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77" name="Google Shape;677;p58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78" name="Google Shape;678;p58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84" name="Google Shape;684;p5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85" name="Google Shape;685;p5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686" name="Google Shape;686;p59"/>
          <p:cNvSpPr txBox="1"/>
          <p:nvPr>
            <p:ph idx="4" type="body"/>
          </p:nvPr>
        </p:nvSpPr>
        <p:spPr>
          <a:xfrm>
            <a:off x="423200" y="2475750"/>
            <a:ext cx="4290600" cy="1915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Стоимость проекта будет составлять около 250-450$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Заработок будет в подписках: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Использование 25$/месяц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PRO версия 35$/месяц(множество языков и </a:t>
            </a:r>
            <a:r>
              <a:rPr lang="en" sz="1600"/>
              <a:t>качество</a:t>
            </a:r>
            <a:r>
              <a:rPr lang="en" sz="1600"/>
              <a:t> речи)</a:t>
            </a:r>
            <a:endParaRPr sz="1600"/>
          </a:p>
        </p:txBody>
      </p:sp>
      <p:sp>
        <p:nvSpPr>
          <p:cNvPr id="687" name="Google Shape;687;p59"/>
          <p:cNvSpPr txBox="1"/>
          <p:nvPr>
            <p:ph type="title"/>
          </p:nvPr>
        </p:nvSpPr>
        <p:spPr>
          <a:xfrm>
            <a:off x="284700" y="95209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Экономика</a:t>
            </a:r>
            <a:endParaRPr/>
          </a:p>
        </p:txBody>
      </p:sp>
      <p:sp>
        <p:nvSpPr>
          <p:cNvPr id="688" name="Google Shape;688;p5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Стоимость</a:t>
            </a:r>
            <a:endParaRPr/>
          </a:p>
        </p:txBody>
      </p:sp>
      <p:sp>
        <p:nvSpPr>
          <p:cNvPr id="689" name="Google Shape;689;p59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0"/>
          <p:cNvSpPr/>
          <p:nvPr/>
        </p:nvSpPr>
        <p:spPr>
          <a:xfrm>
            <a:off x="1113575" y="1261000"/>
            <a:ext cx="7746000" cy="3331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5" name="Google Shape;695;p60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Окупаемость:</a:t>
            </a:r>
            <a:endParaRPr/>
          </a:p>
        </p:txBody>
      </p:sp>
      <p:sp>
        <p:nvSpPr>
          <p:cNvPr id="696" name="Google Shape;696;p6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97" name="Google Shape;697;p6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98" name="Google Shape;698;p6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9" name="Google Shape;699;p60"/>
          <p:cNvCxnSpPr/>
          <p:nvPr/>
        </p:nvCxnSpPr>
        <p:spPr>
          <a:xfrm>
            <a:off x="2225288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60"/>
          <p:cNvCxnSpPr/>
          <p:nvPr/>
        </p:nvCxnSpPr>
        <p:spPr>
          <a:xfrm>
            <a:off x="3330870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60"/>
          <p:cNvCxnSpPr/>
          <p:nvPr/>
        </p:nvCxnSpPr>
        <p:spPr>
          <a:xfrm>
            <a:off x="4436453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60"/>
          <p:cNvCxnSpPr/>
          <p:nvPr/>
        </p:nvCxnSpPr>
        <p:spPr>
          <a:xfrm>
            <a:off x="5542035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60"/>
          <p:cNvCxnSpPr/>
          <p:nvPr/>
        </p:nvCxnSpPr>
        <p:spPr>
          <a:xfrm>
            <a:off x="6647618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60"/>
          <p:cNvCxnSpPr/>
          <p:nvPr/>
        </p:nvCxnSpPr>
        <p:spPr>
          <a:xfrm>
            <a:off x="7753200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5" name="Google Shape;705;p60"/>
          <p:cNvSpPr txBox="1"/>
          <p:nvPr>
            <p:ph idx="1" type="subTitle"/>
          </p:nvPr>
        </p:nvSpPr>
        <p:spPr>
          <a:xfrm>
            <a:off x="11135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1</a:t>
            </a:r>
            <a:endParaRPr sz="900"/>
          </a:p>
        </p:txBody>
      </p:sp>
      <p:sp>
        <p:nvSpPr>
          <p:cNvPr id="706" name="Google Shape;706;p60"/>
          <p:cNvSpPr txBox="1"/>
          <p:nvPr>
            <p:ph idx="1" type="subTitle"/>
          </p:nvPr>
        </p:nvSpPr>
        <p:spPr>
          <a:xfrm>
            <a:off x="22190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</a:t>
            </a:r>
            <a:r>
              <a:rPr lang="en" sz="900"/>
              <a:t> 2</a:t>
            </a:r>
            <a:endParaRPr sz="900"/>
          </a:p>
        </p:txBody>
      </p:sp>
      <p:sp>
        <p:nvSpPr>
          <p:cNvPr id="707" name="Google Shape;707;p60"/>
          <p:cNvSpPr txBox="1"/>
          <p:nvPr>
            <p:ph idx="1" type="subTitle"/>
          </p:nvPr>
        </p:nvSpPr>
        <p:spPr>
          <a:xfrm>
            <a:off x="33245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3</a:t>
            </a:r>
            <a:endParaRPr sz="900"/>
          </a:p>
        </p:txBody>
      </p:sp>
      <p:sp>
        <p:nvSpPr>
          <p:cNvPr id="708" name="Google Shape;708;p60"/>
          <p:cNvSpPr txBox="1"/>
          <p:nvPr>
            <p:ph idx="1" type="subTitle"/>
          </p:nvPr>
        </p:nvSpPr>
        <p:spPr>
          <a:xfrm>
            <a:off x="44300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4</a:t>
            </a:r>
            <a:endParaRPr sz="900"/>
          </a:p>
        </p:txBody>
      </p:sp>
      <p:sp>
        <p:nvSpPr>
          <p:cNvPr id="709" name="Google Shape;709;p60"/>
          <p:cNvSpPr txBox="1"/>
          <p:nvPr>
            <p:ph idx="1" type="subTitle"/>
          </p:nvPr>
        </p:nvSpPr>
        <p:spPr>
          <a:xfrm>
            <a:off x="55355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5</a:t>
            </a:r>
            <a:endParaRPr sz="900"/>
          </a:p>
        </p:txBody>
      </p:sp>
      <p:sp>
        <p:nvSpPr>
          <p:cNvPr id="710" name="Google Shape;710;p60"/>
          <p:cNvSpPr txBox="1"/>
          <p:nvPr>
            <p:ph idx="1" type="subTitle"/>
          </p:nvPr>
        </p:nvSpPr>
        <p:spPr>
          <a:xfrm>
            <a:off x="66410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6</a:t>
            </a:r>
            <a:endParaRPr sz="900"/>
          </a:p>
        </p:txBody>
      </p:sp>
      <p:sp>
        <p:nvSpPr>
          <p:cNvPr id="711" name="Google Shape;711;p60"/>
          <p:cNvSpPr txBox="1"/>
          <p:nvPr>
            <p:ph idx="1" type="subTitle"/>
          </p:nvPr>
        </p:nvSpPr>
        <p:spPr>
          <a:xfrm>
            <a:off x="77477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7</a:t>
            </a:r>
            <a:endParaRPr sz="900"/>
          </a:p>
        </p:txBody>
      </p:sp>
      <p:sp>
        <p:nvSpPr>
          <p:cNvPr id="712" name="Google Shape;712;p60"/>
          <p:cNvSpPr txBox="1"/>
          <p:nvPr>
            <p:ph idx="1" type="subTitle"/>
          </p:nvPr>
        </p:nvSpPr>
        <p:spPr>
          <a:xfrm>
            <a:off x="283475" y="1578200"/>
            <a:ext cx="83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 1</a:t>
            </a:r>
            <a:endParaRPr sz="900"/>
          </a:p>
        </p:txBody>
      </p:sp>
      <p:sp>
        <p:nvSpPr>
          <p:cNvPr id="713" name="Google Shape;713;p60"/>
          <p:cNvSpPr txBox="1"/>
          <p:nvPr>
            <p:ph idx="1" type="subTitle"/>
          </p:nvPr>
        </p:nvSpPr>
        <p:spPr>
          <a:xfrm>
            <a:off x="283475" y="2201250"/>
            <a:ext cx="83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 2</a:t>
            </a:r>
            <a:endParaRPr sz="900"/>
          </a:p>
        </p:txBody>
      </p:sp>
      <p:sp>
        <p:nvSpPr>
          <p:cNvPr id="714" name="Google Shape;714;p60"/>
          <p:cNvSpPr txBox="1"/>
          <p:nvPr>
            <p:ph idx="1" type="subTitle"/>
          </p:nvPr>
        </p:nvSpPr>
        <p:spPr>
          <a:xfrm>
            <a:off x="283475" y="2824300"/>
            <a:ext cx="83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 3</a:t>
            </a:r>
            <a:endParaRPr sz="900"/>
          </a:p>
        </p:txBody>
      </p:sp>
      <p:sp>
        <p:nvSpPr>
          <p:cNvPr id="715" name="Google Shape;715;p60"/>
          <p:cNvSpPr txBox="1"/>
          <p:nvPr>
            <p:ph idx="1" type="subTitle"/>
          </p:nvPr>
        </p:nvSpPr>
        <p:spPr>
          <a:xfrm>
            <a:off x="283475" y="3447350"/>
            <a:ext cx="83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 4</a:t>
            </a:r>
            <a:endParaRPr sz="900"/>
          </a:p>
        </p:txBody>
      </p:sp>
      <p:sp>
        <p:nvSpPr>
          <p:cNvPr id="716" name="Google Shape;716;p60"/>
          <p:cNvSpPr txBox="1"/>
          <p:nvPr>
            <p:ph idx="1" type="subTitle"/>
          </p:nvPr>
        </p:nvSpPr>
        <p:spPr>
          <a:xfrm>
            <a:off x="283475" y="4070400"/>
            <a:ext cx="83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 5</a:t>
            </a:r>
            <a:endParaRPr sz="900"/>
          </a:p>
        </p:txBody>
      </p:sp>
      <p:grpSp>
        <p:nvGrpSpPr>
          <p:cNvPr id="717" name="Google Shape;717;p60"/>
          <p:cNvGrpSpPr/>
          <p:nvPr/>
        </p:nvGrpSpPr>
        <p:grpSpPr>
          <a:xfrm>
            <a:off x="801650" y="1125456"/>
            <a:ext cx="610500" cy="3648900"/>
            <a:chOff x="801650" y="1125456"/>
            <a:chExt cx="610500" cy="3648900"/>
          </a:xfrm>
        </p:grpSpPr>
        <p:cxnSp>
          <p:nvCxnSpPr>
            <p:cNvPr id="718" name="Google Shape;718;p60"/>
            <p:cNvCxnSpPr>
              <a:endCxn id="719" idx="0"/>
            </p:cNvCxnSpPr>
            <p:nvPr/>
          </p:nvCxnSpPr>
          <p:spPr>
            <a:xfrm>
              <a:off x="1106900" y="1125456"/>
              <a:ext cx="0" cy="3437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9" name="Google Shape;719;p60"/>
            <p:cNvSpPr/>
            <p:nvPr/>
          </p:nvSpPr>
          <p:spPr>
            <a:xfrm>
              <a:off x="801650" y="4563156"/>
              <a:ext cx="610500" cy="2112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Today</a:t>
              </a:r>
              <a:endPara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sp>
        <p:nvSpPr>
          <p:cNvPr descr="A chart showing when tasks need to be started and completed across a seven-week period. " id="720" name="Google Shape;720;p60"/>
          <p:cNvSpPr/>
          <p:nvPr/>
        </p:nvSpPr>
        <p:spPr>
          <a:xfrm>
            <a:off x="1238933" y="1455200"/>
            <a:ext cx="1705800" cy="450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1" name="Google Shape;721;p60"/>
          <p:cNvSpPr/>
          <p:nvPr/>
        </p:nvSpPr>
        <p:spPr>
          <a:xfrm>
            <a:off x="2342361" y="2078250"/>
            <a:ext cx="1415400" cy="450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2" name="Google Shape;722;p60"/>
          <p:cNvSpPr/>
          <p:nvPr/>
        </p:nvSpPr>
        <p:spPr>
          <a:xfrm>
            <a:off x="3391725" y="2701300"/>
            <a:ext cx="1829700" cy="450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3" name="Google Shape;723;p60"/>
          <p:cNvSpPr/>
          <p:nvPr/>
        </p:nvSpPr>
        <p:spPr>
          <a:xfrm>
            <a:off x="4362876" y="3324350"/>
            <a:ext cx="2380200" cy="4509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4" name="Google Shape;724;p60"/>
          <p:cNvSpPr/>
          <p:nvPr/>
        </p:nvSpPr>
        <p:spPr>
          <a:xfrm>
            <a:off x="6354033" y="3947400"/>
            <a:ext cx="2380200" cy="450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5" name="Google Shape;725;p60"/>
          <p:cNvSpPr txBox="1"/>
          <p:nvPr/>
        </p:nvSpPr>
        <p:spPr>
          <a:xfrm>
            <a:off x="1832925" y="1514425"/>
            <a:ext cx="1111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10$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6" name="Google Shape;726;p60"/>
          <p:cNvSpPr txBox="1"/>
          <p:nvPr/>
        </p:nvSpPr>
        <p:spPr>
          <a:xfrm>
            <a:off x="2820575" y="2140100"/>
            <a:ext cx="5103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75$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7" name="Google Shape;727;p60"/>
          <p:cNvSpPr txBox="1"/>
          <p:nvPr/>
        </p:nvSpPr>
        <p:spPr>
          <a:xfrm>
            <a:off x="4116600" y="2759600"/>
            <a:ext cx="910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150$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8" name="Google Shape;728;p60"/>
          <p:cNvSpPr txBox="1"/>
          <p:nvPr/>
        </p:nvSpPr>
        <p:spPr>
          <a:xfrm>
            <a:off x="5221425" y="3324350"/>
            <a:ext cx="910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210$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9" name="Google Shape;729;p60"/>
          <p:cNvSpPr txBox="1"/>
          <p:nvPr/>
        </p:nvSpPr>
        <p:spPr>
          <a:xfrm>
            <a:off x="7293300" y="4004700"/>
            <a:ext cx="10623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380$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