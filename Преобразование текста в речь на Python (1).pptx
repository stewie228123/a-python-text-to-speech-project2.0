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33" Type="http://schemas.openxmlformats.org/officeDocument/2006/relationships/font" Target="fonts/PoppinsSemiBold-bold.fntdata"/><Relationship Id="rId32" Type="http://schemas.openxmlformats.org/officeDocument/2006/relationships/font" Target="fonts/PoppinsSemiBold-regular.fntdata"/><Relationship Id="rId35" Type="http://schemas.openxmlformats.org/officeDocument/2006/relationships/font" Target="fonts/PoppinsSemiBold-boldItalic.fntdata"/><Relationship Id="rId34" Type="http://schemas.openxmlformats.org/officeDocument/2006/relationships/font" Target="fonts/PoppinsSemiBold-italic.fntdata"/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Poppins-boldItalic.fntdata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29" Type="http://schemas.openxmlformats.org/officeDocument/2006/relationships/font" Target="fonts/Urbanis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45110bd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45110bd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45110bdff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45110bdff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886ec9182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d886ec9182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886ec9182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886ec9182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45110bdf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d45110bdf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659334f6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d659334f6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659334f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659334f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659334f6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d659334f6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659334f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659334f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d886ec9182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d886ec9182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427975" y="474750"/>
            <a:ext cx="5017800" cy="2666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Преобразование текста в речь на Python</a:t>
            </a:r>
            <a:endParaRPr sz="5000"/>
          </a:p>
        </p:txBody>
      </p:sp>
      <p:sp>
        <p:nvSpPr>
          <p:cNvPr id="574" name="Google Shape;574;p54"/>
          <p:cNvSpPr txBox="1"/>
          <p:nvPr/>
        </p:nvSpPr>
        <p:spPr>
          <a:xfrm>
            <a:off x="6745175" y="3640900"/>
            <a:ext cx="17007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Выполнил: Боярсков Мирон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idx="1" type="subTitle"/>
          </p:nvPr>
        </p:nvSpPr>
        <p:spPr>
          <a:xfrm>
            <a:off x="3389025" y="12977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Людям с нарушениями получать информацию</a:t>
            </a:r>
            <a:endParaRPr/>
          </a:p>
        </p:txBody>
      </p:sp>
      <p:sp>
        <p:nvSpPr>
          <p:cNvPr id="580" name="Google Shape;580;p55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Генерировать аудио для различных целей</a:t>
            </a:r>
            <a:endParaRPr/>
          </a:p>
        </p:txBody>
      </p:sp>
      <p:sp>
        <p:nvSpPr>
          <p:cNvPr id="581" name="Google Shape;581;p55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Использование аудио в учебных целях</a:t>
            </a:r>
            <a:endParaRPr/>
          </a:p>
        </p:txBody>
      </p:sp>
      <p:sp>
        <p:nvSpPr>
          <p:cNvPr id="582" name="Google Shape;582;p55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Маркетологи и предприниматели</a:t>
            </a:r>
            <a:endParaRPr/>
          </a:p>
        </p:txBody>
      </p:sp>
      <p:sp>
        <p:nvSpPr>
          <p:cNvPr id="583" name="Google Shape;583;p55"/>
          <p:cNvSpPr txBox="1"/>
          <p:nvPr>
            <p:ph idx="5" type="subTitle"/>
          </p:nvPr>
        </p:nvSpPr>
        <p:spPr>
          <a:xfrm>
            <a:off x="6335550" y="2475745"/>
            <a:ext cx="23313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Студенты </a:t>
            </a:r>
            <a:endParaRPr/>
          </a:p>
        </p:txBody>
      </p:sp>
      <p:sp>
        <p:nvSpPr>
          <p:cNvPr id="584" name="Google Shape;584;p55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</a:t>
            </a:r>
            <a:r>
              <a:rPr lang="en"/>
              <a:t>Музыканты и сценаристы</a:t>
            </a:r>
            <a:endParaRPr/>
          </a:p>
        </p:txBody>
      </p:sp>
      <p:cxnSp>
        <p:nvCxnSpPr>
          <p:cNvPr id="585" name="Google Shape;585;p55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5"/>
          <p:cNvSpPr txBox="1"/>
          <p:nvPr>
            <p:ph type="title"/>
          </p:nvPr>
        </p:nvSpPr>
        <p:spPr>
          <a:xfrm>
            <a:off x="111325" y="129425"/>
            <a:ext cx="3554400" cy="1018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Информация о проекте:</a:t>
            </a:r>
            <a:endParaRPr/>
          </a:p>
        </p:txBody>
      </p:sp>
      <p:sp>
        <p:nvSpPr>
          <p:cNvPr id="587" name="Google Shape;587;p55"/>
          <p:cNvSpPr txBox="1"/>
          <p:nvPr/>
        </p:nvSpPr>
        <p:spPr>
          <a:xfrm>
            <a:off x="3145525" y="710100"/>
            <a:ext cx="275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Программа позволяет: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8" name="Google Shape;588;p55"/>
          <p:cNvSpPr txBox="1"/>
          <p:nvPr/>
        </p:nvSpPr>
        <p:spPr>
          <a:xfrm>
            <a:off x="6390150" y="710100"/>
            <a:ext cx="2369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Целевая аудитория: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94" name="Google Shape;594;p5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595" name="Google Shape;595;p5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596" name="Google Shape;596;p5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О коде:</a:t>
            </a:r>
            <a:endParaRPr sz="3200"/>
          </a:p>
        </p:txBody>
      </p:sp>
      <p:sp>
        <p:nvSpPr>
          <p:cNvPr id="597" name="Google Shape;597;p56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8" name="Google Shape;598;p56"/>
          <p:cNvSpPr txBox="1"/>
          <p:nvPr/>
        </p:nvSpPr>
        <p:spPr>
          <a:xfrm>
            <a:off x="371525" y="1923650"/>
            <a:ext cx="45327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Код поделен на 3 части: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 часть:  Озвучка  (от 10 до 38 строчки)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 часть Настройка речи( от 41 до 69 строчки)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 часть Интерфейс (от 72 до 203 строчки)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*Интерфейс занимает большую часть кода, он имеет очень много настроек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04" name="Google Shape;604;p5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05" name="Google Shape;605;p5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06" name="Google Shape;606;p57"/>
          <p:cNvSpPr txBox="1"/>
          <p:nvPr>
            <p:ph type="title"/>
          </p:nvPr>
        </p:nvSpPr>
        <p:spPr>
          <a:xfrm>
            <a:off x="284700" y="9357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работает код:</a:t>
            </a:r>
            <a:endParaRPr/>
          </a:p>
        </p:txBody>
      </p:sp>
      <p:sp>
        <p:nvSpPr>
          <p:cNvPr id="607" name="Google Shape;607;p57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8" name="Google Shape;608;p57"/>
          <p:cNvSpPr txBox="1"/>
          <p:nvPr/>
        </p:nvSpPr>
        <p:spPr>
          <a:xfrm>
            <a:off x="445825" y="2377725"/>
            <a:ext cx="37776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При запуске кода открывается меню есть текстовое поле, три кнопки и строка поддержки.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1. 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Вы вписываете текст который нужно озвучить.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2. Выбираете язык и скорость звучания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3. Нажимаете кнопку озвучить.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 Есть кнопки остановить и очистить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8"/>
          <p:cNvSpPr txBox="1"/>
          <p:nvPr>
            <p:ph type="title"/>
          </p:nvPr>
        </p:nvSpPr>
        <p:spPr>
          <a:xfrm>
            <a:off x="283475" y="433725"/>
            <a:ext cx="4835400" cy="82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Аналоги моей первой версии проекта и их сравнение:</a:t>
            </a:r>
            <a:endParaRPr sz="2800"/>
          </a:p>
        </p:txBody>
      </p:sp>
      <p:grpSp>
        <p:nvGrpSpPr>
          <p:cNvPr id="614" name="Google Shape;614;p58"/>
          <p:cNvGrpSpPr/>
          <p:nvPr/>
        </p:nvGrpSpPr>
        <p:grpSpPr>
          <a:xfrm>
            <a:off x="7702825" y="2150325"/>
            <a:ext cx="1255500" cy="297600"/>
            <a:chOff x="7645025" y="2665288"/>
            <a:chExt cx="1255500" cy="297600"/>
          </a:xfrm>
        </p:grpSpPr>
        <p:sp>
          <p:nvSpPr>
            <p:cNvPr id="615" name="Google Shape;615;p58"/>
            <p:cNvSpPr/>
            <p:nvPr/>
          </p:nvSpPr>
          <p:spPr>
            <a:xfrm>
              <a:off x="7942625" y="2676850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Отлично </a:t>
              </a:r>
              <a:endParaRPr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6" name="Google Shape;616;p58"/>
            <p:cNvSpPr/>
            <p:nvPr/>
          </p:nvSpPr>
          <p:spPr>
            <a:xfrm>
              <a:off x="7645025" y="2665288"/>
              <a:ext cx="297600" cy="297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17" name="Google Shape;617;p58"/>
          <p:cNvGrpSpPr/>
          <p:nvPr/>
        </p:nvGrpSpPr>
        <p:grpSpPr>
          <a:xfrm>
            <a:off x="7702825" y="2617738"/>
            <a:ext cx="1255500" cy="297600"/>
            <a:chOff x="7645025" y="3132700"/>
            <a:chExt cx="1255500" cy="297600"/>
          </a:xfrm>
        </p:grpSpPr>
        <p:sp>
          <p:nvSpPr>
            <p:cNvPr id="618" name="Google Shape;618;p58"/>
            <p:cNvSpPr/>
            <p:nvPr/>
          </p:nvSpPr>
          <p:spPr>
            <a:xfrm>
              <a:off x="7942625" y="3144275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Хорошо</a:t>
              </a:r>
              <a:endParaRPr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19" name="Google Shape;619;p58"/>
            <p:cNvSpPr/>
            <p:nvPr/>
          </p:nvSpPr>
          <p:spPr>
            <a:xfrm>
              <a:off x="7645025" y="3132700"/>
              <a:ext cx="297600" cy="297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20" name="Google Shape;620;p58"/>
          <p:cNvGrpSpPr/>
          <p:nvPr/>
        </p:nvGrpSpPr>
        <p:grpSpPr>
          <a:xfrm>
            <a:off x="7702825" y="3095400"/>
            <a:ext cx="1255500" cy="297600"/>
            <a:chOff x="7645025" y="3610363"/>
            <a:chExt cx="1255500" cy="297600"/>
          </a:xfrm>
        </p:grpSpPr>
        <p:sp>
          <p:nvSpPr>
            <p:cNvPr id="621" name="Google Shape;621;p58"/>
            <p:cNvSpPr/>
            <p:nvPr/>
          </p:nvSpPr>
          <p:spPr>
            <a:xfrm>
              <a:off x="7942625" y="3611700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Удовлетворительно</a:t>
              </a:r>
              <a:endParaRPr sz="9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22" name="Google Shape;622;p58"/>
            <p:cNvSpPr/>
            <p:nvPr/>
          </p:nvSpPr>
          <p:spPr>
            <a:xfrm>
              <a:off x="7645025" y="3610363"/>
              <a:ext cx="297600" cy="297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</a:t>
              </a:r>
              <a:endParaRPr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23" name="Google Shape;623;p58"/>
          <p:cNvGrpSpPr/>
          <p:nvPr/>
        </p:nvGrpSpPr>
        <p:grpSpPr>
          <a:xfrm>
            <a:off x="7702825" y="3552600"/>
            <a:ext cx="1255500" cy="297600"/>
            <a:chOff x="7645025" y="4067563"/>
            <a:chExt cx="1255500" cy="297600"/>
          </a:xfrm>
        </p:grpSpPr>
        <p:sp>
          <p:nvSpPr>
            <p:cNvPr id="624" name="Google Shape;624;p58"/>
            <p:cNvSpPr/>
            <p:nvPr/>
          </p:nvSpPr>
          <p:spPr>
            <a:xfrm>
              <a:off x="7942625" y="4079125"/>
              <a:ext cx="957900" cy="274500"/>
            </a:xfrm>
            <a:prstGeom prst="roundRect">
              <a:avLst>
                <a:gd fmla="val 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Плохо</a:t>
              </a:r>
              <a:endParaRPr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25" name="Google Shape;625;p58"/>
            <p:cNvSpPr/>
            <p:nvPr/>
          </p:nvSpPr>
          <p:spPr>
            <a:xfrm>
              <a:off x="7645025" y="4067563"/>
              <a:ext cx="297600" cy="29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810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</a:t>
              </a:r>
              <a:endParaRPr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26" name="Google Shape;626;p58"/>
          <p:cNvGrpSpPr/>
          <p:nvPr/>
        </p:nvGrpSpPr>
        <p:grpSpPr>
          <a:xfrm>
            <a:off x="319106" y="1596430"/>
            <a:ext cx="6950184" cy="2737369"/>
            <a:chOff x="278757" y="2027501"/>
            <a:chExt cx="5378567" cy="2116086"/>
          </a:xfrm>
        </p:grpSpPr>
        <p:grpSp>
          <p:nvGrpSpPr>
            <p:cNvPr id="627" name="Google Shape;627;p58"/>
            <p:cNvGrpSpPr/>
            <p:nvPr/>
          </p:nvGrpSpPr>
          <p:grpSpPr>
            <a:xfrm>
              <a:off x="1147600" y="2027501"/>
              <a:ext cx="4251238" cy="481212"/>
              <a:chOff x="1147600" y="2027501"/>
              <a:chExt cx="4251238" cy="481212"/>
            </a:xfrm>
          </p:grpSpPr>
          <p:sp>
            <p:nvSpPr>
              <p:cNvPr descr="A chart showing which team members are responsible, accountable, consulted, and informed in regard to various project phases and tasks. " id="628" name="Google Shape;628;p58"/>
              <p:cNvSpPr txBox="1"/>
              <p:nvPr/>
            </p:nvSpPr>
            <p:spPr>
              <a:xfrm>
                <a:off x="1147600" y="2047013"/>
                <a:ext cx="1667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GCTS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</a:t>
                </a:r>
                <a:r>
                  <a:rPr b="1" lang="en" sz="776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Google Cloud Text-to-Speech</a:t>
                </a: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)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29" name="Google Shape;629;p58"/>
              <p:cNvSpPr txBox="1"/>
              <p:nvPr/>
            </p:nvSpPr>
            <p:spPr>
              <a:xfrm>
                <a:off x="2623675" y="2047013"/>
                <a:ext cx="1822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MASS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</a:t>
                </a:r>
                <a:r>
                  <a:rPr b="1" lang="en" sz="776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Microsoft Azure Speech Service</a:t>
                </a: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)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30" name="Google Shape;630;p58"/>
              <p:cNvSpPr txBox="1"/>
              <p:nvPr/>
            </p:nvSpPr>
            <p:spPr>
              <a:xfrm>
                <a:off x="4239338" y="2027501"/>
                <a:ext cx="1159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18275" lIns="118275" spcFirstLastPara="1" rIns="118275" wrap="square" tIns="11827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Мой проект</a:t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631" name="Google Shape;631;p58"/>
            <p:cNvSpPr/>
            <p:nvPr/>
          </p:nvSpPr>
          <p:spPr>
            <a:xfrm>
              <a:off x="3378713" y="2578500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2" name="Google Shape;632;p58"/>
            <p:cNvSpPr/>
            <p:nvPr/>
          </p:nvSpPr>
          <p:spPr>
            <a:xfrm>
              <a:off x="4678150" y="2585800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3" name="Google Shape;633;p58"/>
            <p:cNvSpPr/>
            <p:nvPr/>
          </p:nvSpPr>
          <p:spPr>
            <a:xfrm>
              <a:off x="2071800" y="2988200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4" name="Google Shape;634;p58"/>
            <p:cNvSpPr/>
            <p:nvPr/>
          </p:nvSpPr>
          <p:spPr>
            <a:xfrm>
              <a:off x="2071800" y="2578500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635" name="Google Shape;635;p58"/>
            <p:cNvCxnSpPr/>
            <p:nvPr/>
          </p:nvCxnSpPr>
          <p:spPr>
            <a:xfrm rot="10800000">
              <a:off x="278757" y="2480723"/>
              <a:ext cx="5272800" cy="150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6" name="Google Shape;636;p58"/>
            <p:cNvSpPr/>
            <p:nvPr/>
          </p:nvSpPr>
          <p:spPr>
            <a:xfrm>
              <a:off x="3378690" y="3398078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7" name="Google Shape;637;p58"/>
            <p:cNvSpPr/>
            <p:nvPr/>
          </p:nvSpPr>
          <p:spPr>
            <a:xfrm>
              <a:off x="3374976" y="3816842"/>
              <a:ext cx="224400" cy="22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8" name="Google Shape;638;p58"/>
            <p:cNvSpPr/>
            <p:nvPr/>
          </p:nvSpPr>
          <p:spPr>
            <a:xfrm>
              <a:off x="4678140" y="3398084"/>
              <a:ext cx="224400" cy="22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9" name="Google Shape;639;p58"/>
            <p:cNvSpPr/>
            <p:nvPr/>
          </p:nvSpPr>
          <p:spPr>
            <a:xfrm>
              <a:off x="2071800" y="3398084"/>
              <a:ext cx="224400" cy="22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</a:t>
              </a:r>
              <a:endParaRPr sz="1294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40" name="Google Shape;640;p58"/>
            <p:cNvSpPr/>
            <p:nvPr/>
          </p:nvSpPr>
          <p:spPr>
            <a:xfrm>
              <a:off x="2072288" y="3816848"/>
              <a:ext cx="224400" cy="22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8275" lIns="118275" spcFirstLastPara="1" rIns="118275" wrap="square" tIns="118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4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</a:t>
              </a:r>
              <a:endParaRPr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641" name="Google Shape;641;p58"/>
            <p:cNvGrpSpPr/>
            <p:nvPr/>
          </p:nvGrpSpPr>
          <p:grpSpPr>
            <a:xfrm>
              <a:off x="284700" y="2485650"/>
              <a:ext cx="1159500" cy="1639600"/>
              <a:chOff x="284700" y="2485650"/>
              <a:chExt cx="1159500" cy="1639600"/>
            </a:xfrm>
          </p:grpSpPr>
          <p:sp>
            <p:nvSpPr>
              <p:cNvPr id="642" name="Google Shape;642;p58"/>
              <p:cNvSpPr txBox="1"/>
              <p:nvPr/>
            </p:nvSpPr>
            <p:spPr>
              <a:xfrm>
                <a:off x="284700" y="24856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Качество звучания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43" name="Google Shape;643;p58"/>
              <p:cNvSpPr txBox="1"/>
              <p:nvPr/>
            </p:nvSpPr>
            <p:spPr>
              <a:xfrm>
                <a:off x="284700" y="28953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Соответствие 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 с   оригиналом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44" name="Google Shape;644;p58"/>
              <p:cNvSpPr txBox="1"/>
              <p:nvPr/>
            </p:nvSpPr>
            <p:spPr>
              <a:xfrm>
                <a:off x="284700" y="33054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Кол-во языков                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45" name="Google Shape;645;p58"/>
              <p:cNvSpPr txBox="1"/>
              <p:nvPr/>
            </p:nvSpPr>
            <p:spPr>
              <a:xfrm>
                <a:off x="284700" y="3715150"/>
                <a:ext cx="1159500" cy="41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18275" lIns="0" spcFirstLastPara="1" rIns="118275" wrap="square" tIns="118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64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  Стоимость</a:t>
                </a:r>
                <a:endParaRPr sz="1164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cxnSp>
          <p:nvCxnSpPr>
            <p:cNvPr id="646" name="Google Shape;646;p58"/>
            <p:cNvCxnSpPr/>
            <p:nvPr/>
          </p:nvCxnSpPr>
          <p:spPr>
            <a:xfrm rot="10800000">
              <a:off x="279222" y="2906554"/>
              <a:ext cx="5321700" cy="11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58"/>
            <p:cNvCxnSpPr/>
            <p:nvPr/>
          </p:nvCxnSpPr>
          <p:spPr>
            <a:xfrm rot="10800000">
              <a:off x="279376" y="3301055"/>
              <a:ext cx="5342700" cy="18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58"/>
            <p:cNvCxnSpPr/>
            <p:nvPr/>
          </p:nvCxnSpPr>
          <p:spPr>
            <a:xfrm rot="10800000">
              <a:off x="279365" y="3719856"/>
              <a:ext cx="5370900" cy="12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58"/>
            <p:cNvCxnSpPr/>
            <p:nvPr/>
          </p:nvCxnSpPr>
          <p:spPr>
            <a:xfrm rot="10800000">
              <a:off x="279224" y="4138487"/>
              <a:ext cx="5378100" cy="51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0" name="Google Shape;650;p58"/>
          <p:cNvSpPr/>
          <p:nvPr/>
        </p:nvSpPr>
        <p:spPr>
          <a:xfrm>
            <a:off x="6001952" y="3892800"/>
            <a:ext cx="311400" cy="29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9525" lIns="99525" spcFirstLastPara="1" rIns="99525" wrap="square" tIns="9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</a:t>
            </a:r>
            <a:endParaRPr sz="1089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4290523" y="2819905"/>
            <a:ext cx="375300" cy="364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9525" lIns="99525" spcFirstLastPara="1" rIns="99525" wrap="square" tIns="99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</a:t>
            </a:r>
            <a:endParaRPr sz="1089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2" name="Google Shape;652;p58"/>
          <p:cNvSpPr/>
          <p:nvPr/>
        </p:nvSpPr>
        <p:spPr>
          <a:xfrm>
            <a:off x="6012588" y="2819904"/>
            <a:ext cx="290100" cy="29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18275" lIns="118275" spcFirstLastPara="1" rIns="118275" wrap="square" tIns="1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4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AA</a:t>
            </a:r>
            <a:endParaRPr sz="1294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4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7" name="Google Shape;657;p59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8" name="Google Shape;658;p59"/>
          <p:cNvSpPr/>
          <p:nvPr/>
        </p:nvSpPr>
        <p:spPr>
          <a:xfrm flipH="1" rot="-5400000">
            <a:off x="8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9" name="Google Shape;659;p59"/>
          <p:cNvSpPr/>
          <p:nvPr/>
        </p:nvSpPr>
        <p:spPr>
          <a:xfrm flipH="1" rot="-5400000">
            <a:off x="1779019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59"/>
          <p:cNvSpPr/>
          <p:nvPr/>
        </p:nvSpPr>
        <p:spPr>
          <a:xfrm flipH="1" rot="-5400000">
            <a:off x="3545408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59"/>
          <p:cNvSpPr/>
          <p:nvPr/>
        </p:nvSpPr>
        <p:spPr>
          <a:xfrm flipH="1" rot="-5400000">
            <a:off x="5305846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59"/>
          <p:cNvSpPr/>
          <p:nvPr/>
        </p:nvSpPr>
        <p:spPr>
          <a:xfrm flipH="1" rot="-5400000">
            <a:off x="7050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59"/>
          <p:cNvSpPr txBox="1"/>
          <p:nvPr>
            <p:ph type="title"/>
          </p:nvPr>
        </p:nvSpPr>
        <p:spPr>
          <a:xfrm>
            <a:off x="331300" y="42548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Схема реализации:</a:t>
            </a:r>
            <a:endParaRPr/>
          </a:p>
        </p:txBody>
      </p:sp>
      <p:sp>
        <p:nvSpPr>
          <p:cNvPr id="664" name="Google Shape;664;p59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1 Неделя</a:t>
            </a:r>
            <a:endParaRPr/>
          </a:p>
        </p:txBody>
      </p:sp>
      <p:sp>
        <p:nvSpPr>
          <p:cNvPr id="665" name="Google Shape;665;p59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2 Неделя</a:t>
            </a:r>
            <a:endParaRPr/>
          </a:p>
        </p:txBody>
      </p:sp>
      <p:sp>
        <p:nvSpPr>
          <p:cNvPr id="666" name="Google Shape;666;p59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Неделя</a:t>
            </a:r>
            <a:endParaRPr/>
          </a:p>
        </p:txBody>
      </p:sp>
      <p:sp>
        <p:nvSpPr>
          <p:cNvPr id="667" name="Google Shape;667;p59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Неделя</a:t>
            </a:r>
            <a:endParaRPr/>
          </a:p>
        </p:txBody>
      </p:sp>
      <p:sp>
        <p:nvSpPr>
          <p:cNvPr id="668" name="Google Shape;668;p59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Неделя</a:t>
            </a:r>
            <a:endParaRPr/>
          </a:p>
        </p:txBody>
      </p:sp>
      <p:sp>
        <p:nvSpPr>
          <p:cNvPr id="669" name="Google Shape;669;p59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Создание первой версии</a:t>
            </a:r>
            <a:endParaRPr sz="1200"/>
          </a:p>
        </p:txBody>
      </p:sp>
      <p:sp>
        <p:nvSpPr>
          <p:cNvPr id="670" name="Google Shape;670;p59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Добавление различных языков</a:t>
            </a:r>
            <a:endParaRPr sz="1200"/>
          </a:p>
        </p:txBody>
      </p:sp>
      <p:sp>
        <p:nvSpPr>
          <p:cNvPr id="671" name="Google Shape;671;p59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/>
              <a:t>Проверка на наличие ошибок</a:t>
            </a:r>
            <a:endParaRPr sz="1200"/>
          </a:p>
        </p:txBody>
      </p:sp>
      <p:sp>
        <p:nvSpPr>
          <p:cNvPr id="672" name="Google Shape;672;p59"/>
          <p:cNvSpPr txBox="1"/>
          <p:nvPr>
            <p:ph idx="14" type="subTitle"/>
          </p:nvPr>
        </p:nvSpPr>
        <p:spPr>
          <a:xfrm>
            <a:off x="271250" y="2737078"/>
            <a:ext cx="1508700" cy="43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Изучение материала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Для использования библиотек</a:t>
            </a:r>
            <a:endParaRPr/>
          </a:p>
        </p:txBody>
      </p:sp>
      <p:sp>
        <p:nvSpPr>
          <p:cNvPr id="673" name="Google Shape;673;p59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Базовая реализация</a:t>
            </a:r>
            <a:endParaRPr/>
          </a:p>
        </p:txBody>
      </p:sp>
      <p:sp>
        <p:nvSpPr>
          <p:cNvPr id="674" name="Google Shape;674;p59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Расширение функциональности</a:t>
            </a:r>
            <a:endParaRPr/>
          </a:p>
        </p:txBody>
      </p:sp>
      <p:sp>
        <p:nvSpPr>
          <p:cNvPr id="675" name="Google Shape;675;p59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Тестирование</a:t>
            </a:r>
            <a:endParaRPr/>
          </a:p>
        </p:txBody>
      </p:sp>
      <p:sp>
        <p:nvSpPr>
          <p:cNvPr id="676" name="Google Shape;676;p59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Выпуск первой версии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82" name="Google Shape;682;p6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83" name="Google Shape;683;p6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684" name="Google Shape;684;p60"/>
          <p:cNvSpPr txBox="1"/>
          <p:nvPr>
            <p:ph idx="4" type="body"/>
          </p:nvPr>
        </p:nvSpPr>
        <p:spPr>
          <a:xfrm>
            <a:off x="423200" y="2475750"/>
            <a:ext cx="4290600" cy="1915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Стоимость проекта будет составлять около 170-250$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Заработок будет в подписках: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Использование 17$/месяц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 версия 27$/месяц(множество языков и </a:t>
            </a:r>
            <a:r>
              <a:rPr lang="en" sz="1600"/>
              <a:t>качество</a:t>
            </a:r>
            <a:r>
              <a:rPr lang="en" sz="1600"/>
              <a:t> речи)</a:t>
            </a:r>
            <a:endParaRPr sz="1600"/>
          </a:p>
        </p:txBody>
      </p:sp>
      <p:sp>
        <p:nvSpPr>
          <p:cNvPr id="685" name="Google Shape;685;p60"/>
          <p:cNvSpPr txBox="1"/>
          <p:nvPr>
            <p:ph type="title"/>
          </p:nvPr>
        </p:nvSpPr>
        <p:spPr>
          <a:xfrm>
            <a:off x="284700" y="95209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Экономика</a:t>
            </a:r>
            <a:endParaRPr/>
          </a:p>
        </p:txBody>
      </p:sp>
      <p:sp>
        <p:nvSpPr>
          <p:cNvPr id="686" name="Google Shape;686;p6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Стоимость</a:t>
            </a:r>
            <a:endParaRPr/>
          </a:p>
        </p:txBody>
      </p:sp>
      <p:sp>
        <p:nvSpPr>
          <p:cNvPr id="687" name="Google Shape;687;p60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61"/>
          <p:cNvSpPr/>
          <p:nvPr/>
        </p:nvSpPr>
        <p:spPr>
          <a:xfrm>
            <a:off x="5998475" y="3811525"/>
            <a:ext cx="2523300" cy="1040400"/>
          </a:xfrm>
          <a:prstGeom prst="rect">
            <a:avLst/>
          </a:prstGeom>
          <a:solidFill>
            <a:srgbClr val="FFDF5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3" name="Google Shape;693;p61"/>
          <p:cNvSpPr/>
          <p:nvPr/>
        </p:nvSpPr>
        <p:spPr>
          <a:xfrm>
            <a:off x="5998475" y="2351750"/>
            <a:ext cx="2523300" cy="1081500"/>
          </a:xfrm>
          <a:prstGeom prst="rect">
            <a:avLst/>
          </a:prstGeom>
          <a:solidFill>
            <a:srgbClr val="FF812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4" name="Google Shape;694;p61"/>
          <p:cNvSpPr/>
          <p:nvPr/>
        </p:nvSpPr>
        <p:spPr>
          <a:xfrm>
            <a:off x="5998475" y="787700"/>
            <a:ext cx="2523300" cy="1040400"/>
          </a:xfrm>
          <a:prstGeom prst="rect">
            <a:avLst/>
          </a:prstGeom>
          <a:solidFill>
            <a:srgbClr val="6D31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5" name="Google Shape;695;p61"/>
          <p:cNvSpPr txBox="1"/>
          <p:nvPr>
            <p:ph type="title"/>
          </p:nvPr>
        </p:nvSpPr>
        <p:spPr>
          <a:xfrm>
            <a:off x="247725" y="425475"/>
            <a:ext cx="4418100" cy="67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Экономика, Основные расходы</a:t>
            </a:r>
            <a:endParaRPr/>
          </a:p>
        </p:txBody>
      </p:sp>
      <p:sp>
        <p:nvSpPr>
          <p:cNvPr id="696" name="Google Shape;696;p61"/>
          <p:cNvSpPr txBox="1"/>
          <p:nvPr>
            <p:ph idx="1" type="subTitle"/>
          </p:nvPr>
        </p:nvSpPr>
        <p:spPr>
          <a:xfrm>
            <a:off x="6212525" y="3889965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Использование платных библиотек</a:t>
            </a:r>
            <a:endParaRPr sz="1300"/>
          </a:p>
        </p:txBody>
      </p:sp>
      <p:sp>
        <p:nvSpPr>
          <p:cNvPr id="697" name="Google Shape;697;p61"/>
          <p:cNvSpPr txBox="1"/>
          <p:nvPr>
            <p:ph idx="2" type="subTitle"/>
          </p:nvPr>
        </p:nvSpPr>
        <p:spPr>
          <a:xfrm>
            <a:off x="6212525" y="4404197"/>
            <a:ext cx="1970400" cy="36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Улучшается качество голоса </a:t>
            </a:r>
            <a:endParaRPr sz="1200"/>
          </a:p>
        </p:txBody>
      </p:sp>
      <p:sp>
        <p:nvSpPr>
          <p:cNvPr id="698" name="Google Shape;698;p61"/>
          <p:cNvSpPr txBox="1"/>
          <p:nvPr>
            <p:ph idx="3" type="subTitle"/>
          </p:nvPr>
        </p:nvSpPr>
        <p:spPr>
          <a:xfrm>
            <a:off x="6143550" y="787700"/>
            <a:ext cx="25233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Добавление разных языков </a:t>
            </a:r>
            <a:endParaRPr sz="1400"/>
          </a:p>
        </p:txBody>
      </p:sp>
      <p:sp>
        <p:nvSpPr>
          <p:cNvPr id="699" name="Google Shape;699;p61"/>
          <p:cNvSpPr txBox="1"/>
          <p:nvPr>
            <p:ph idx="4" type="subTitle"/>
          </p:nvPr>
        </p:nvSpPr>
        <p:spPr>
          <a:xfrm>
            <a:off x="6448936" y="1286485"/>
            <a:ext cx="1970400" cy="40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От 15 до 50 языков</a:t>
            </a:r>
            <a:endParaRPr sz="1400"/>
          </a:p>
        </p:txBody>
      </p:sp>
      <p:sp>
        <p:nvSpPr>
          <p:cNvPr id="700" name="Google Shape;700;p61"/>
          <p:cNvSpPr txBox="1"/>
          <p:nvPr>
            <p:ph idx="5" type="subTitle"/>
          </p:nvPr>
        </p:nvSpPr>
        <p:spPr>
          <a:xfrm>
            <a:off x="6064625" y="2443013"/>
            <a:ext cx="23910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</a:t>
            </a:r>
            <a:r>
              <a:rPr lang="en" sz="1300"/>
              <a:t>обавление разных голосов</a:t>
            </a:r>
            <a:endParaRPr sz="1300"/>
          </a:p>
        </p:txBody>
      </p:sp>
      <p:sp>
        <p:nvSpPr>
          <p:cNvPr id="701" name="Google Shape;701;p61"/>
          <p:cNvSpPr txBox="1"/>
          <p:nvPr>
            <p:ph idx="6" type="subTitle"/>
          </p:nvPr>
        </p:nvSpPr>
        <p:spPr>
          <a:xfrm>
            <a:off x="6173424" y="2941797"/>
            <a:ext cx="1970400" cy="400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Разнообразить  озвучку</a:t>
            </a:r>
            <a:endParaRPr sz="1400"/>
          </a:p>
        </p:txBody>
      </p:sp>
      <p:sp>
        <p:nvSpPr>
          <p:cNvPr id="702" name="Google Shape;702;p61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03" name="Google Shape;703;p61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704" name="Google Shape;704;p61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  <p:sp>
        <p:nvSpPr>
          <p:cNvPr id="705" name="Google Shape;705;p61"/>
          <p:cNvSpPr/>
          <p:nvPr/>
        </p:nvSpPr>
        <p:spPr>
          <a:xfrm rot="-3280401">
            <a:off x="1751011" y="2315750"/>
            <a:ext cx="1022591" cy="10204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5300" lIns="70650" spcFirstLastPara="1" rIns="70650" wrap="square" tIns="35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/>
          </a:p>
        </p:txBody>
      </p:sp>
      <p:grpSp>
        <p:nvGrpSpPr>
          <p:cNvPr id="706" name="Google Shape;706;p61"/>
          <p:cNvGrpSpPr/>
          <p:nvPr/>
        </p:nvGrpSpPr>
        <p:grpSpPr>
          <a:xfrm>
            <a:off x="1966745" y="2017154"/>
            <a:ext cx="2285702" cy="2547973"/>
            <a:chOff x="4184863" y="1520198"/>
            <a:chExt cx="2958454" cy="3298347"/>
          </a:xfrm>
        </p:grpSpPr>
        <p:sp>
          <p:nvSpPr>
            <p:cNvPr id="707" name="Google Shape;707;p61"/>
            <p:cNvSpPr/>
            <p:nvPr/>
          </p:nvSpPr>
          <p:spPr>
            <a:xfrm rot="-3280088">
              <a:off x="4136321" y="2563569"/>
              <a:ext cx="3184127" cy="1211606"/>
            </a:xfrm>
            <a:custGeom>
              <a:rect b="b" l="l" r="r" t="t"/>
              <a:pathLst>
                <a:path extrusionOk="0" h="187" w="492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F8127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1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rect b="b" l="l" r="r" t="t"/>
              <a:pathLst>
                <a:path extrusionOk="0" h="194" w="44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FF8127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61"/>
          <p:cNvGrpSpPr/>
          <p:nvPr/>
        </p:nvGrpSpPr>
        <p:grpSpPr>
          <a:xfrm>
            <a:off x="941404" y="787697"/>
            <a:ext cx="2544617" cy="2489702"/>
            <a:chOff x="2857731" y="-71332"/>
            <a:chExt cx="3293577" cy="3222916"/>
          </a:xfrm>
        </p:grpSpPr>
        <p:sp>
          <p:nvSpPr>
            <p:cNvPr id="710" name="Google Shape;710;p61"/>
            <p:cNvSpPr/>
            <p:nvPr/>
          </p:nvSpPr>
          <p:spPr>
            <a:xfrm rot="-3280089">
              <a:off x="3410337" y="297186"/>
              <a:ext cx="2188366" cy="2485879"/>
            </a:xfrm>
            <a:custGeom>
              <a:rect b="b" l="l" r="r" t="t"/>
              <a:pathLst>
                <a:path extrusionOk="0" h="384" w="338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6D31F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1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rect b="b" l="l" r="r" t="t"/>
              <a:pathLst>
                <a:path extrusionOk="0" h="352" w="288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6D31FD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1"/>
            <p:cNvSpPr txBox="1"/>
            <p:nvPr/>
          </p:nvSpPr>
          <p:spPr>
            <a:xfrm>
              <a:off x="3782825" y="1153125"/>
              <a:ext cx="1578000" cy="563100"/>
            </a:xfrm>
            <a:prstGeom prst="rect">
              <a:avLst/>
            </a:prstGeom>
            <a:solidFill>
              <a:srgbClr val="6D31FD"/>
            </a:solidFill>
            <a:ln>
              <a:noFill/>
            </a:ln>
          </p:spPr>
          <p:txBody>
            <a:bodyPr anchorCtr="0" anchor="ctr" bIns="70650" lIns="70650" spcFirstLastPara="1" rIns="70650" wrap="square" tIns="70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35$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3" name="Google Shape;713;p61"/>
          <p:cNvGrpSpPr/>
          <p:nvPr/>
        </p:nvGrpSpPr>
        <p:grpSpPr>
          <a:xfrm>
            <a:off x="247729" y="2144209"/>
            <a:ext cx="2645717" cy="2411960"/>
            <a:chOff x="1959887" y="1684671"/>
            <a:chExt cx="3424433" cy="3122279"/>
          </a:xfrm>
        </p:grpSpPr>
        <p:sp>
          <p:nvSpPr>
            <p:cNvPr id="714" name="Google Shape;714;p61"/>
            <p:cNvSpPr/>
            <p:nvPr/>
          </p:nvSpPr>
          <p:spPr>
            <a:xfrm rot="-3280088">
              <a:off x="2859669" y="1740600"/>
              <a:ext cx="1624870" cy="3045726"/>
            </a:xfrm>
            <a:custGeom>
              <a:rect b="b" l="l" r="r" t="t"/>
              <a:pathLst>
                <a:path extrusionOk="0" h="470" w="251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FDF5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1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rect b="b" l="l" r="r" t="t"/>
              <a:pathLst>
                <a:path extrusionOk="0" h="411" w="254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FFDF5F"/>
            </a:solidFill>
            <a:ln cap="flat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35300" lIns="70650" spcFirstLastPara="1" rIns="70650" wrap="square" tIns="35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6" name="Google Shape;716;p61"/>
          <p:cNvSpPr txBox="1"/>
          <p:nvPr/>
        </p:nvSpPr>
        <p:spPr>
          <a:xfrm>
            <a:off x="2732750" y="3145550"/>
            <a:ext cx="5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75$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7" name="Google Shape;717;p61"/>
          <p:cNvSpPr txBox="1"/>
          <p:nvPr/>
        </p:nvSpPr>
        <p:spPr>
          <a:xfrm>
            <a:off x="1314550" y="3130100"/>
            <a:ext cx="6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60$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2"/>
          <p:cNvSpPr/>
          <p:nvPr/>
        </p:nvSpPr>
        <p:spPr>
          <a:xfrm>
            <a:off x="1112975" y="1284150"/>
            <a:ext cx="7746000" cy="3331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3" name="Google Shape;723;p62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Окупаемость:</a:t>
            </a:r>
            <a:endParaRPr/>
          </a:p>
        </p:txBody>
      </p:sp>
      <p:sp>
        <p:nvSpPr>
          <p:cNvPr id="724" name="Google Shape;724;p6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25" name="Google Shape;725;p6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726" name="Google Shape;726;p62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7" name="Google Shape;727;p62"/>
          <p:cNvCxnSpPr/>
          <p:nvPr/>
        </p:nvCxnSpPr>
        <p:spPr>
          <a:xfrm>
            <a:off x="2225288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62"/>
          <p:cNvCxnSpPr/>
          <p:nvPr/>
        </p:nvCxnSpPr>
        <p:spPr>
          <a:xfrm>
            <a:off x="3330870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62"/>
          <p:cNvCxnSpPr/>
          <p:nvPr/>
        </p:nvCxnSpPr>
        <p:spPr>
          <a:xfrm>
            <a:off x="4436453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62"/>
          <p:cNvCxnSpPr/>
          <p:nvPr/>
        </p:nvCxnSpPr>
        <p:spPr>
          <a:xfrm>
            <a:off x="5542035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62"/>
          <p:cNvCxnSpPr/>
          <p:nvPr/>
        </p:nvCxnSpPr>
        <p:spPr>
          <a:xfrm>
            <a:off x="6647618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62"/>
          <p:cNvCxnSpPr/>
          <p:nvPr/>
        </p:nvCxnSpPr>
        <p:spPr>
          <a:xfrm>
            <a:off x="7753200" y="1261000"/>
            <a:ext cx="0" cy="3331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62"/>
          <p:cNvSpPr txBox="1"/>
          <p:nvPr>
            <p:ph idx="1" type="subTitle"/>
          </p:nvPr>
        </p:nvSpPr>
        <p:spPr>
          <a:xfrm>
            <a:off x="1113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1</a:t>
            </a:r>
            <a:endParaRPr sz="900"/>
          </a:p>
        </p:txBody>
      </p:sp>
      <p:sp>
        <p:nvSpPr>
          <p:cNvPr id="734" name="Google Shape;734;p62"/>
          <p:cNvSpPr txBox="1"/>
          <p:nvPr>
            <p:ph idx="1" type="subTitle"/>
          </p:nvPr>
        </p:nvSpPr>
        <p:spPr>
          <a:xfrm>
            <a:off x="2219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</a:t>
            </a:r>
            <a:r>
              <a:rPr lang="en" sz="900"/>
              <a:t> 2</a:t>
            </a:r>
            <a:endParaRPr sz="900"/>
          </a:p>
        </p:txBody>
      </p:sp>
      <p:sp>
        <p:nvSpPr>
          <p:cNvPr id="735" name="Google Shape;735;p62"/>
          <p:cNvSpPr txBox="1"/>
          <p:nvPr>
            <p:ph idx="1" type="subTitle"/>
          </p:nvPr>
        </p:nvSpPr>
        <p:spPr>
          <a:xfrm>
            <a:off x="3324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3</a:t>
            </a:r>
            <a:endParaRPr sz="900"/>
          </a:p>
        </p:txBody>
      </p:sp>
      <p:sp>
        <p:nvSpPr>
          <p:cNvPr id="736" name="Google Shape;736;p62"/>
          <p:cNvSpPr txBox="1"/>
          <p:nvPr>
            <p:ph idx="1" type="subTitle"/>
          </p:nvPr>
        </p:nvSpPr>
        <p:spPr>
          <a:xfrm>
            <a:off x="4430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4</a:t>
            </a:r>
            <a:endParaRPr sz="900"/>
          </a:p>
        </p:txBody>
      </p:sp>
      <p:sp>
        <p:nvSpPr>
          <p:cNvPr id="737" name="Google Shape;737;p62"/>
          <p:cNvSpPr txBox="1"/>
          <p:nvPr>
            <p:ph idx="1" type="subTitle"/>
          </p:nvPr>
        </p:nvSpPr>
        <p:spPr>
          <a:xfrm>
            <a:off x="55355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5</a:t>
            </a:r>
            <a:endParaRPr sz="900"/>
          </a:p>
        </p:txBody>
      </p:sp>
      <p:sp>
        <p:nvSpPr>
          <p:cNvPr id="738" name="Google Shape;738;p62"/>
          <p:cNvSpPr txBox="1"/>
          <p:nvPr>
            <p:ph idx="1" type="subTitle"/>
          </p:nvPr>
        </p:nvSpPr>
        <p:spPr>
          <a:xfrm>
            <a:off x="66410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6</a:t>
            </a:r>
            <a:endParaRPr sz="900"/>
          </a:p>
        </p:txBody>
      </p:sp>
      <p:sp>
        <p:nvSpPr>
          <p:cNvPr id="739" name="Google Shape;739;p62"/>
          <p:cNvSpPr txBox="1"/>
          <p:nvPr>
            <p:ph idx="1" type="subTitle"/>
          </p:nvPr>
        </p:nvSpPr>
        <p:spPr>
          <a:xfrm>
            <a:off x="7747775" y="950600"/>
            <a:ext cx="1111800" cy="20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Month </a:t>
            </a:r>
            <a:r>
              <a:rPr lang="en" sz="900"/>
              <a:t>7</a:t>
            </a:r>
            <a:endParaRPr sz="900"/>
          </a:p>
        </p:txBody>
      </p:sp>
      <p:grpSp>
        <p:nvGrpSpPr>
          <p:cNvPr id="740" name="Google Shape;740;p62"/>
          <p:cNvGrpSpPr/>
          <p:nvPr/>
        </p:nvGrpSpPr>
        <p:grpSpPr>
          <a:xfrm>
            <a:off x="801650" y="1125456"/>
            <a:ext cx="610500" cy="3648900"/>
            <a:chOff x="801650" y="1125456"/>
            <a:chExt cx="610500" cy="3648900"/>
          </a:xfrm>
        </p:grpSpPr>
        <p:cxnSp>
          <p:nvCxnSpPr>
            <p:cNvPr id="741" name="Google Shape;741;p62"/>
            <p:cNvCxnSpPr>
              <a:endCxn id="742" idx="0"/>
            </p:cNvCxnSpPr>
            <p:nvPr/>
          </p:nvCxnSpPr>
          <p:spPr>
            <a:xfrm>
              <a:off x="1106900" y="1125456"/>
              <a:ext cx="0" cy="34377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2" name="Google Shape;742;p62"/>
            <p:cNvSpPr/>
            <p:nvPr/>
          </p:nvSpPr>
          <p:spPr>
            <a:xfrm>
              <a:off x="801650" y="4563156"/>
              <a:ext cx="610500" cy="2112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Today</a:t>
              </a:r>
              <a:endPara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sp>
        <p:nvSpPr>
          <p:cNvPr descr="A chart showing when tasks need to be started and completed across a seven-week period. " id="743" name="Google Shape;743;p62"/>
          <p:cNvSpPr/>
          <p:nvPr/>
        </p:nvSpPr>
        <p:spPr>
          <a:xfrm>
            <a:off x="1156358" y="4070400"/>
            <a:ext cx="1705800" cy="450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4" name="Google Shape;744;p62"/>
          <p:cNvSpPr/>
          <p:nvPr/>
        </p:nvSpPr>
        <p:spPr>
          <a:xfrm>
            <a:off x="2216611" y="3490225"/>
            <a:ext cx="1415400" cy="450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5" name="Google Shape;745;p62"/>
          <p:cNvSpPr/>
          <p:nvPr/>
        </p:nvSpPr>
        <p:spPr>
          <a:xfrm>
            <a:off x="3337025" y="2899450"/>
            <a:ext cx="1829700" cy="450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62"/>
          <p:cNvSpPr/>
          <p:nvPr/>
        </p:nvSpPr>
        <p:spPr>
          <a:xfrm>
            <a:off x="4436451" y="2346300"/>
            <a:ext cx="2380200" cy="4509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62"/>
          <p:cNvSpPr/>
          <p:nvPr/>
        </p:nvSpPr>
        <p:spPr>
          <a:xfrm>
            <a:off x="6286658" y="1725400"/>
            <a:ext cx="2380200" cy="450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8" name="Google Shape;748;p62"/>
          <p:cNvSpPr txBox="1"/>
          <p:nvPr/>
        </p:nvSpPr>
        <p:spPr>
          <a:xfrm>
            <a:off x="1750350" y="4129625"/>
            <a:ext cx="11118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10$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9" name="Google Shape;749;p62"/>
          <p:cNvSpPr txBox="1"/>
          <p:nvPr/>
        </p:nvSpPr>
        <p:spPr>
          <a:xfrm>
            <a:off x="2694825" y="3552075"/>
            <a:ext cx="5103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65$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0" name="Google Shape;750;p62"/>
          <p:cNvSpPr txBox="1"/>
          <p:nvPr/>
        </p:nvSpPr>
        <p:spPr>
          <a:xfrm>
            <a:off x="4061900" y="2957750"/>
            <a:ext cx="910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150$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1" name="Google Shape;751;p62"/>
          <p:cNvSpPr txBox="1"/>
          <p:nvPr/>
        </p:nvSpPr>
        <p:spPr>
          <a:xfrm>
            <a:off x="5295000" y="2346300"/>
            <a:ext cx="910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210$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2" name="Google Shape;752;p62"/>
          <p:cNvSpPr txBox="1"/>
          <p:nvPr/>
        </p:nvSpPr>
        <p:spPr>
          <a:xfrm>
            <a:off x="7225925" y="1782700"/>
            <a:ext cx="10623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380$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7" name="Google Shape;757;p63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8" name="Google Shape;758;p63"/>
          <p:cNvSpPr/>
          <p:nvPr/>
        </p:nvSpPr>
        <p:spPr>
          <a:xfrm flipH="1" rot="-5400000">
            <a:off x="71400" y="1611150"/>
            <a:ext cx="551700" cy="6768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63"/>
          <p:cNvSpPr/>
          <p:nvPr/>
        </p:nvSpPr>
        <p:spPr>
          <a:xfrm flipH="1" rot="-5400000">
            <a:off x="2243388" y="1611150"/>
            <a:ext cx="551700" cy="6768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0" name="Google Shape;760;p63"/>
          <p:cNvSpPr/>
          <p:nvPr/>
        </p:nvSpPr>
        <p:spPr>
          <a:xfrm flipH="1" rot="-5400000">
            <a:off x="4410737" y="1611150"/>
            <a:ext cx="551700" cy="6768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63"/>
          <p:cNvSpPr/>
          <p:nvPr/>
        </p:nvSpPr>
        <p:spPr>
          <a:xfrm flipH="1" rot="-5400000">
            <a:off x="6570785" y="1611150"/>
            <a:ext cx="551700" cy="6768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2" name="Google Shape;762;p6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Дальнейшая разработка:</a:t>
            </a:r>
            <a:endParaRPr/>
          </a:p>
        </p:txBody>
      </p:sp>
      <p:sp>
        <p:nvSpPr>
          <p:cNvPr id="763" name="Google Shape;763;p63"/>
          <p:cNvSpPr txBox="1"/>
          <p:nvPr>
            <p:ph idx="1" type="subTitle"/>
          </p:nvPr>
        </p:nvSpPr>
        <p:spPr>
          <a:xfrm>
            <a:off x="324003" y="2247686"/>
            <a:ext cx="18513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2026 - 2027 (начало)</a:t>
            </a:r>
            <a:endParaRPr/>
          </a:p>
        </p:txBody>
      </p:sp>
      <p:sp>
        <p:nvSpPr>
          <p:cNvPr id="764" name="Google Shape;764;p63"/>
          <p:cNvSpPr txBox="1"/>
          <p:nvPr>
            <p:ph idx="2" type="subTitle"/>
          </p:nvPr>
        </p:nvSpPr>
        <p:spPr>
          <a:xfrm>
            <a:off x="2489524" y="2269636"/>
            <a:ext cx="18513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2027-2028(начало)</a:t>
            </a:r>
            <a:endParaRPr/>
          </a:p>
        </p:txBody>
      </p:sp>
      <p:sp>
        <p:nvSpPr>
          <p:cNvPr id="765" name="Google Shape;765;p63"/>
          <p:cNvSpPr txBox="1"/>
          <p:nvPr>
            <p:ph idx="3" type="subTitle"/>
          </p:nvPr>
        </p:nvSpPr>
        <p:spPr>
          <a:xfrm>
            <a:off x="4655034" y="2269636"/>
            <a:ext cx="18513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2028 - 2029(начало)</a:t>
            </a:r>
            <a:endParaRPr/>
          </a:p>
        </p:txBody>
      </p:sp>
      <p:sp>
        <p:nvSpPr>
          <p:cNvPr id="766" name="Google Shape;766;p63"/>
          <p:cNvSpPr txBox="1"/>
          <p:nvPr>
            <p:ph idx="4" type="subTitle"/>
          </p:nvPr>
        </p:nvSpPr>
        <p:spPr>
          <a:xfrm>
            <a:off x="6815683" y="2269636"/>
            <a:ext cx="18513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2029</a:t>
            </a:r>
            <a:endParaRPr/>
          </a:p>
        </p:txBody>
      </p:sp>
      <p:sp>
        <p:nvSpPr>
          <p:cNvPr id="767" name="Google Shape;767;p63"/>
          <p:cNvSpPr txBox="1"/>
          <p:nvPr>
            <p:ph idx="6" type="body"/>
          </p:nvPr>
        </p:nvSpPr>
        <p:spPr>
          <a:xfrm>
            <a:off x="324005" y="3263086"/>
            <a:ext cx="19827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Повтор воспроизведения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Сохранение аудиофайла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3"/>
          <p:cNvSpPr txBox="1"/>
          <p:nvPr>
            <p:ph idx="7" type="body"/>
          </p:nvPr>
        </p:nvSpPr>
        <p:spPr>
          <a:xfrm>
            <a:off x="2486612" y="3263075"/>
            <a:ext cx="1851300" cy="17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Отображение прогресса воспроизведения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История последних текстов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Ползунок регулировки громкости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3"/>
          <p:cNvSpPr txBox="1"/>
          <p:nvPr>
            <p:ph idx="8" type="body"/>
          </p:nvPr>
        </p:nvSpPr>
        <p:spPr>
          <a:xfrm>
            <a:off x="4642380" y="3263082"/>
            <a:ext cx="1851300" cy="118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Выбор голоса</a:t>
            </a:r>
            <a:endParaRPr b="1"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Тёмная тема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Мини‑режим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770" name="Google Shape;770;p63"/>
          <p:cNvSpPr txBox="1"/>
          <p:nvPr>
            <p:ph idx="14" type="subTitle"/>
          </p:nvPr>
        </p:nvSpPr>
        <p:spPr>
          <a:xfrm>
            <a:off x="330813" y="2737076"/>
            <a:ext cx="185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Разработка новых функций</a:t>
            </a:r>
            <a:endParaRPr sz="1400"/>
          </a:p>
        </p:txBody>
      </p:sp>
      <p:sp>
        <p:nvSpPr>
          <p:cNvPr id="771" name="Google Shape;771;p63"/>
          <p:cNvSpPr txBox="1"/>
          <p:nvPr>
            <p:ph idx="15" type="subTitle"/>
          </p:nvPr>
        </p:nvSpPr>
        <p:spPr>
          <a:xfrm>
            <a:off x="2489524" y="2737076"/>
            <a:ext cx="185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Улучшения интерфейса</a:t>
            </a:r>
            <a:endParaRPr sz="1400"/>
          </a:p>
        </p:txBody>
      </p:sp>
      <p:sp>
        <p:nvSpPr>
          <p:cNvPr id="772" name="Google Shape;772;p63"/>
          <p:cNvSpPr txBox="1"/>
          <p:nvPr>
            <p:ph idx="16" type="subTitle"/>
          </p:nvPr>
        </p:nvSpPr>
        <p:spPr>
          <a:xfrm>
            <a:off x="4655034" y="2737086"/>
            <a:ext cx="185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Дополнительные возможности</a:t>
            </a:r>
            <a:endParaRPr sz="1400"/>
          </a:p>
        </p:txBody>
      </p:sp>
      <p:sp>
        <p:nvSpPr>
          <p:cNvPr id="773" name="Google Shape;773;p63"/>
          <p:cNvSpPr txBox="1"/>
          <p:nvPr>
            <p:ph idx="17" type="subTitle"/>
          </p:nvPr>
        </p:nvSpPr>
        <p:spPr>
          <a:xfrm>
            <a:off x="6815683" y="2737086"/>
            <a:ext cx="1851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Выпуск проекта</a:t>
            </a:r>
            <a:endParaRPr sz="1400"/>
          </a:p>
        </p:txBody>
      </p:sp>
      <p:sp>
        <p:nvSpPr>
          <p:cNvPr id="774" name="Google Shape;774;p63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775" name="Google Shape;775;p63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776" name="Google Shape;776;p63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